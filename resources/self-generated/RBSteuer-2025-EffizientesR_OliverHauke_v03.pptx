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37" r:id="rId2"/>
    <p:sldId id="517" r:id="rId3"/>
    <p:sldId id="521" r:id="rId4"/>
    <p:sldId id="516" r:id="rId5"/>
    <p:sldId id="520" r:id="rId6"/>
    <p:sldId id="514" r:id="rId7"/>
    <p:sldId id="518" r:id="rId8"/>
    <p:sldId id="522" r:id="rId9"/>
    <p:sldId id="508" r:id="rId10"/>
    <p:sldId id="509" r:id="rId11"/>
    <p:sldId id="524" r:id="rId12"/>
    <p:sldId id="499" r:id="rId13"/>
  </p:sldIdLst>
  <p:sldSz cx="12195175" cy="6859588"/>
  <p:notesSz cx="7104063" cy="10234613"/>
  <p:embeddedFontLst>
    <p:embeddedFont>
      <p:font typeface="Statis Sans" panose="020B0503050000020004" pitchFamily="34" charset="0"/>
      <p:regular r:id="rId16"/>
      <p:bold r:id="rId17"/>
      <p:italic r:id="rId18"/>
      <p:boldItalic r:id="rId19"/>
    </p:embeddedFont>
    <p:embeddedFont>
      <p:font typeface="Statis Sans Light" panose="020B0403050000020004" pitchFamily="34" charset="0"/>
      <p:regular r:id="rId20"/>
      <p:italic r:id="rId21"/>
    </p:embeddedFont>
  </p:embeddedFontLst>
  <p:defaultTextStyle>
    <a:defPPr>
      <a:defRPr lang="de-DE"/>
    </a:defPPr>
    <a:lvl1pPr marL="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2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444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166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888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61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33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053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775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6" userDrawn="1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ias Friedrich" initials="MF" lastIdx="1" clrIdx="0">
    <p:extLst>
      <p:ext uri="{19B8F6BF-5375-455C-9EA6-DF929625EA0E}">
        <p15:presenceInfo xmlns:p15="http://schemas.microsoft.com/office/powerpoint/2012/main" userId="8550697cc3795f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0B8D"/>
    <a:srgbClr val="006298"/>
    <a:srgbClr val="53322B"/>
    <a:srgbClr val="434E55"/>
    <a:srgbClr val="FFCC00"/>
    <a:srgbClr val="516E99"/>
    <a:srgbClr val="145C6C"/>
    <a:srgbClr val="AD8BD3"/>
    <a:srgbClr val="A395C9"/>
    <a:srgbClr val="E7EA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5" autoAdjust="0"/>
    <p:restoredTop sz="90058" autoAdjust="0"/>
  </p:normalViewPr>
  <p:slideViewPr>
    <p:cSldViewPr snapToGrid="0" snapToObjects="1">
      <p:cViewPr varScale="1">
        <p:scale>
          <a:sx n="95" d="100"/>
          <a:sy n="95" d="100"/>
        </p:scale>
        <p:origin x="1170" y="78"/>
      </p:cViewPr>
      <p:guideLst>
        <p:guide orient="horz" pos="2546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0" d="100"/>
          <a:sy n="70" d="100"/>
        </p:scale>
        <p:origin x="3062" y="-5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l">
              <a:defRPr sz="1200"/>
            </a:lvl1pPr>
          </a:lstStyle>
          <a:p>
            <a:endParaRPr lang="de-DE" dirty="0">
              <a:latin typeface="Statis Sans" panose="020B05030500000200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3202" y="2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r">
              <a:defRPr sz="1200"/>
            </a:lvl1pPr>
          </a:lstStyle>
          <a:p>
            <a:fld id="{3CF4DE4A-EBEF-48E6-8F0E-519C84312126}" type="datetimeFigureOut">
              <a:rPr lang="de-DE" smtClean="0">
                <a:latin typeface="Statis Sans" panose="020B0503050000020004" pitchFamily="34" charset="0"/>
              </a:rPr>
              <a:t>13.11.2025</a:t>
            </a:fld>
            <a:endParaRPr lang="de-DE" dirty="0">
              <a:latin typeface="Statis Sans" panose="020B05030500000200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0756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l">
              <a:defRPr sz="1200"/>
            </a:lvl1pPr>
          </a:lstStyle>
          <a:p>
            <a:endParaRPr lang="de-DE" dirty="0">
              <a:latin typeface="Statis Sans" panose="020B05030500000200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3202" y="9720756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r">
              <a:defRPr sz="1200"/>
            </a:lvl1pPr>
          </a:lstStyle>
          <a:p>
            <a:fld id="{988AD56A-E425-4921-84C1-03420AB58DAC}" type="slidenum">
              <a:rPr lang="de-DE" smtClean="0">
                <a:latin typeface="Statis Sans" panose="020B0503050000020004" pitchFamily="34" charset="0"/>
              </a:rPr>
              <a:t>‹Nr.›</a:t>
            </a:fld>
            <a:endParaRPr lang="de-DE" dirty="0">
              <a:latin typeface="Statis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00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l">
              <a:defRPr sz="1200">
                <a:latin typeface="Statis Sans" panose="020B05030500000200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5" y="1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r">
              <a:defRPr sz="1200">
                <a:latin typeface="Statis Sans" panose="020B0503050000020004" pitchFamily="34" charset="0"/>
              </a:defRPr>
            </a:lvl1pPr>
          </a:lstStyle>
          <a:p>
            <a:fld id="{8D9BBD62-E87A-4D5C-B70B-7C95F8DCB9B3}" type="datetimeFigureOut">
              <a:rPr lang="de-DE" smtClean="0"/>
              <a:pPr/>
              <a:t>13.11.2025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14" tIns="47557" rIns="95114" bIns="47557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5114" tIns="47557" rIns="95114" bIns="47557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" y="9721108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l">
              <a:defRPr sz="1200">
                <a:latin typeface="Statis Sans" panose="020B05030500000200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5" y="9721108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r">
              <a:defRPr sz="1200">
                <a:latin typeface="Statis Sans" panose="020B0503050000020004" pitchFamily="34" charset="0"/>
              </a:defRPr>
            </a:lvl1pPr>
          </a:lstStyle>
          <a:p>
            <a:fld id="{74870A76-7E73-40B4-AABF-FD9679C021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7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444" rtl="0" eaLnBrk="1" latinLnBrk="0" hangingPunct="1">
      <a:defRPr sz="1600" kern="1200">
        <a:solidFill>
          <a:schemeClr val="tx1"/>
        </a:solidFill>
        <a:latin typeface="Statis Sans" panose="020B05030500000200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NeSt</a:t>
            </a:r>
            <a:r>
              <a:rPr lang="de-DE" dirty="0"/>
              <a:t> assoziiert im StBA, einziger Kollege in der IT-Abteilung </a:t>
            </a:r>
            <a:r>
              <a:rPr lang="de-DE" dirty="0" err="1"/>
              <a:t>Ref</a:t>
            </a:r>
            <a:r>
              <a:rPr lang="de-DE" dirty="0"/>
              <a:t>… </a:t>
            </a:r>
          </a:p>
          <a:p>
            <a:pPr marL="285750" indent="-285750">
              <a:buFontTx/>
              <a:buChar char="-"/>
            </a:pPr>
            <a:r>
              <a:rPr lang="de-DE" dirty="0"/>
              <a:t>Besondere / Herausfordernde Aufgabe Analysemöglichkeiten und Verwaltung des FDZ zu verbessern</a:t>
            </a:r>
          </a:p>
          <a:p>
            <a:pPr marL="285750" indent="-285750">
              <a:buFontTx/>
              <a:buChar char="-"/>
            </a:pPr>
            <a:r>
              <a:rPr lang="de-DE" dirty="0"/>
              <a:t>Ich habe schon sehr viel Datenanalysiert. Mathematiker / leidenschaftlicher Programmierer /KI/Big Data </a:t>
            </a:r>
            <a:r>
              <a:rPr lang="de-DE" dirty="0" err="1"/>
              <a:t>Ref</a:t>
            </a:r>
            <a:r>
              <a:rPr lang="de-DE" dirty="0"/>
              <a:t>. StBA / (internationale Hackathons)</a:t>
            </a:r>
          </a:p>
          <a:p>
            <a:pPr marL="285750" indent="-285750">
              <a:buFontTx/>
              <a:buChar char="-"/>
            </a:pPr>
            <a:r>
              <a:rPr lang="de-DE" dirty="0"/>
              <a:t>Arbeite an beiden Enden </a:t>
            </a:r>
            <a:r>
              <a:rPr lang="de-DE" dirty="0" err="1"/>
              <a:t>Nutzendenbetreuung</a:t>
            </a:r>
            <a:r>
              <a:rPr lang="de-DE" dirty="0"/>
              <a:t> und Systemweiterentwicklungen, um Analysepotenzial mit unseren Datenmengen zu vereinbaren.</a:t>
            </a:r>
          </a:p>
          <a:p>
            <a:pPr marL="285750" indent="-285750">
              <a:buFontTx/>
              <a:buChar char="-"/>
            </a:pPr>
            <a:r>
              <a:rPr lang="de-DE" dirty="0"/>
              <a:t>Erfahrungen bringe ich ein 1. Hardware/Systemanforderungen an unsere Partner rüberzubringen, 2. Beraten in </a:t>
            </a:r>
            <a:r>
              <a:rPr lang="de-DE" dirty="0" err="1"/>
              <a:t>eff</a:t>
            </a:r>
            <a:r>
              <a:rPr lang="de-DE" dirty="0"/>
              <a:t>. Nutzung von </a:t>
            </a:r>
            <a:r>
              <a:rPr lang="de-DE" dirty="0" err="1"/>
              <a:t>moderen</a:t>
            </a:r>
            <a:r>
              <a:rPr lang="de-DE" dirty="0"/>
              <a:t> Tools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128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7382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Erste Seite/Hebel: Hardware ausweiten, Zugang vereinheitlichen</a:t>
            </a:r>
          </a:p>
          <a:p>
            <a:pPr marL="285750" indent="-285750">
              <a:buFontTx/>
              <a:buChar char="-"/>
            </a:pPr>
            <a:r>
              <a:rPr lang="de-DE" dirty="0"/>
              <a:t>Links: Fragmentiert, geteilt mit allen Bereichen im StBA, setzt hauptsächlich auf lokale APCs für GWAP</a:t>
            </a:r>
          </a:p>
          <a:p>
            <a:pPr marL="285750" indent="-285750">
              <a:buFontTx/>
              <a:buChar char="-"/>
            </a:pPr>
            <a:r>
              <a:rPr lang="de-DE" dirty="0"/>
              <a:t>Rechts: </a:t>
            </a:r>
            <a:r>
              <a:rPr lang="de-DE" dirty="0" err="1"/>
              <a:t>dtl</a:t>
            </a:r>
            <a:r>
              <a:rPr lang="de-DE" dirty="0"/>
              <a:t>. mehr, FDZ exklusiv, zugänglich für alle On-Site Nutzungen (auch Forschende and GWAPs)</a:t>
            </a:r>
          </a:p>
          <a:p>
            <a:pPr marL="285750" indent="-285750">
              <a:buFontTx/>
              <a:buChar char="-"/>
            </a:pPr>
            <a:r>
              <a:rPr lang="de-DE" dirty="0"/>
              <a:t>Was kann man mit so einer Infrastruktur erreichen…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4132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Erstmal muss man wissen, wie sie effektiv genutzt werden kann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7847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128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2560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432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7445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810389" y="813183"/>
            <a:ext cx="9975211" cy="2423468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810389" y="3473549"/>
            <a:ext cx="9979973" cy="175300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400" b="0">
                <a:solidFill>
                  <a:schemeClr val="accent4"/>
                </a:solidFill>
                <a:latin typeface="+mn-lt"/>
              </a:defRPr>
            </a:lvl1pPr>
            <a:lvl2pPr marL="609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91657645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005AE674-85F5-42FB-B4AF-6221EAD1D99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810389" y="861373"/>
            <a:ext cx="9975211" cy="161740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974118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Piktogram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803406-CB79-4DD3-B20D-1FBA375E15B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810389" y="2932092"/>
            <a:ext cx="2607012" cy="2607012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de-DE" dirty="0"/>
              <a:t>Piktogramm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7361FC6C-EC00-4E24-8F38-577617AFF077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810389" y="861373"/>
            <a:ext cx="9975211" cy="161740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841568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425601" y="1050180"/>
            <a:ext cx="10364761" cy="822413"/>
          </a:xfrm>
        </p:spPr>
        <p:txBody>
          <a:bodyPr lIns="0" tIns="0" rIns="0" bIns="0" anchor="b" anchorCtr="0">
            <a:noAutofit/>
          </a:bodyPr>
          <a:lstStyle>
            <a:lvl1pPr algn="l"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BE3E3986-A2A0-43FE-859B-2577C12FB4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pic>
        <p:nvPicPr>
          <p:cNvPr id="19" name="Grafik 18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7CFCF018-E038-4AB9-9937-D641606376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0444FF5-E3F2-4F30-8A45-2A6424F92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25601" y="2349500"/>
            <a:ext cx="10364762" cy="3050983"/>
          </a:xfrm>
        </p:spPr>
        <p:txBody>
          <a:bodyPr>
            <a:normAutofit/>
          </a:bodyPr>
          <a:lstStyle>
            <a:lvl1pPr marL="638175" indent="-638175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+mj-lt"/>
              <a:buAutoNum type="arabicParenBoth"/>
              <a:defRPr sz="2800"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3148411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ktue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425601" y="1050180"/>
            <a:ext cx="10359999" cy="822413"/>
          </a:xfrm>
        </p:spPr>
        <p:txBody>
          <a:bodyPr lIns="0" tIns="0" rIns="0" bIns="0" anchor="b" anchorCtr="0">
            <a:noAutofit/>
          </a:bodyPr>
          <a:lstStyle>
            <a:lvl1pPr algn="l"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BE3E3986-A2A0-43FE-859B-2577C12FB4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pic>
        <p:nvPicPr>
          <p:cNvPr id="19" name="Grafik 18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7CFCF018-E038-4AB9-9937-D641606376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0444FF5-E3F2-4F30-8A45-2A6424F92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25601" y="2349500"/>
            <a:ext cx="10364761" cy="3050983"/>
          </a:xfrm>
        </p:spPr>
        <p:txBody>
          <a:bodyPr>
            <a:normAutofit/>
          </a:bodyPr>
          <a:lstStyle>
            <a:lvl1pPr marL="638175" indent="-638175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120000"/>
              <a:buFont typeface="+mj-lt"/>
              <a:buAutoNum type="arabicParenBoth"/>
              <a:defRPr sz="28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4768546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tertitel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14D8478D-46B5-406F-8E99-F689FE3257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452" y="1809306"/>
            <a:ext cx="11075148" cy="353943"/>
          </a:xfrm>
        </p:spPr>
        <p:txBody>
          <a:bodyPr anchor="ctr">
            <a:noAutofit/>
          </a:bodyPr>
          <a:lstStyle>
            <a:lvl1pPr>
              <a:defRPr sz="2400"/>
            </a:lvl1pPr>
          </a:lstStyle>
          <a:p>
            <a:pPr marL="0" marR="0" lvl="0" indent="0" algn="l" defTabSz="1219444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Untertitel. </a:t>
            </a:r>
            <a:r>
              <a:rPr lang="de-DE" dirty="0" err="1"/>
              <a:t>Statis</a:t>
            </a:r>
            <a:r>
              <a:rPr lang="de-DE" dirty="0"/>
              <a:t> Sans, 24 Pt.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2F5BB9A-844B-4DA8-A998-AFB9A5A90FA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0452" y="2349500"/>
            <a:ext cx="11075148" cy="34559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06EFFB-F64C-4099-B364-910EF69D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AA2E849-DE6D-43AA-8BA0-B8705D77033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425078AD-FB97-45E3-978A-C13ECA655553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64A666D-C954-49D8-8A26-98F695B02FF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5DDF53D-F8D0-4C8D-B35E-9973B4E5D03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7637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75E2B-8360-4CD8-9C92-232AFF6620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0452" y="2349500"/>
            <a:ext cx="11075148" cy="34559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D7D596B-7FD9-442E-86BF-E6CA6B73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0E070A-1903-48E8-9857-15B1E3B4FF5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123E15C5-F997-45B8-852E-81902DB83842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BA176C-D743-447B-94F2-AEBABDE81F38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FC9687-544B-4A25-9C58-9DFCF7EC5C5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92230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2" y="1988360"/>
            <a:ext cx="11075148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BE6734-C1B9-4B3A-A19D-A21180B5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C47A1E-ED24-4B5D-AC88-DFF909D6D3FE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B0D1F31-D1B1-43D6-9AED-6B3C2F9E8E3B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C37C95-5741-4CE5-B1B1-128D9AD850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FE0862-0F5F-4FD1-9A6F-9B87E91EFD5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349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ohne 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2" y="1139617"/>
            <a:ext cx="11075148" cy="466587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SmartArt-Grafiken, Filme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7CE50B-5B87-4DA9-A89C-75A561E803A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6B3F806-79C3-48B3-A744-0D5EABAB259B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9059E7F-95C2-4285-9BB6-70B36F14DFD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9259565-4742-4049-9041-03E21E55D55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8749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3E3EBBA-D243-4CDB-8947-693C2E8359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95678" y="1988360"/>
            <a:ext cx="5289923" cy="381712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3" y="1988360"/>
            <a:ext cx="5289924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67EE67-C119-47EC-8AF4-3B03C57B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0D5399-8542-416B-A419-EFBC4CD3188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D9AA04C0-67BC-445C-8471-275342C32945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5B7FF73-E3B4-425F-AE2E-1E1DE9EBD80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040381D1-C766-4BDB-968E-916EAD81A382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2834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Tex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62D68EDA-619E-4539-A383-F869491E40C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09776" y="1988360"/>
            <a:ext cx="3775825" cy="381712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2" y="1988360"/>
            <a:ext cx="6804772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SmartArt-Grafiken, Filme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03463F-62AB-43DC-B4E1-EE42AC0A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9247B8-774E-4C92-A512-819B6A8A923D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4F9E05C9-3402-404D-BA7F-34E203B488AB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0A85C6-225A-41F5-8BC9-ACFC83DBBFF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86F98E-1969-4788-AC39-E1A1D403B6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435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Inhal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19F1EA6A-AAA0-4CB2-8B2E-395C5F2913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09201" y="1988360"/>
            <a:ext cx="3775825" cy="381712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981576" y="1988360"/>
            <a:ext cx="6804024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SmartArt-Grafiken, Filme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5A15C9-E0DE-4199-A42D-479D3A68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F557D4-584C-4DD5-9F67-3FD84A7E688A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175C1243-4CDC-4D37-9785-C6CB06EEA84B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F5C127-94D6-41BD-A67B-C3BE5C233BF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5E645D-A7EA-4322-A213-1975C9FDD95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9822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76722E-AD1A-4650-A3F1-353038E5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0BDA81-E122-4813-98F7-FE28498A3E4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AD1D45-BC4B-4A9F-9D16-BE008AEB6DB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9F498B-6D38-4F8D-86E6-39231EAFADD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6033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Se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B5DDB4-0E90-4BB5-97E2-46B4AB0C98D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E9D94-02B8-4E5B-8B3C-4FF91B839DA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C4E274-E4DD-4DF9-9879-5D80A51C214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305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005AE674-85F5-42FB-B4AF-6221EAD1D99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810389" y="861373"/>
            <a:ext cx="9975211" cy="161740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A6B5378-86D3-496A-B164-7393A8185E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27" y="2729990"/>
            <a:ext cx="3864741" cy="116081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+mj-lt"/>
              <a:buNone/>
              <a:defRPr sz="2300"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C26FD313-9B7C-4EF6-9408-353179C4F9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2419" y="2729991"/>
            <a:ext cx="3864741" cy="2658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+mj-lt"/>
              <a:buNone/>
              <a:defRPr sz="2300"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Textplatzhalter 19">
            <a:extLst>
              <a:ext uri="{FF2B5EF4-FFF2-40B4-BE49-F238E27FC236}">
                <a16:creationId xmlns:a16="http://schemas.microsoft.com/office/drawing/2014/main" id="{D259C415-7CB8-4480-BE46-B9B5A4AB0C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7027" y="4191512"/>
            <a:ext cx="3864741" cy="11966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20000"/>
              <a:buFont typeface="+mj-lt"/>
              <a:buNone/>
              <a:defRPr sz="23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72878724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A4754E0-5E52-4526-8320-B7065F1A7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06437" y="6368385"/>
            <a:ext cx="180000" cy="160606"/>
            <a:chOff x="1264596" y="1634247"/>
            <a:chExt cx="3242553" cy="2893196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EC4B1179-38E7-4E2E-BA19-13D7D4D5B48E}"/>
                </a:ext>
              </a:extLst>
            </p:cNvPr>
            <p:cNvSpPr/>
            <p:nvPr/>
          </p:nvSpPr>
          <p:spPr>
            <a:xfrm>
              <a:off x="1290139" y="1883661"/>
              <a:ext cx="681334" cy="1894917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D4889E4-79E8-4BB9-9BC6-44514AF35517}"/>
                </a:ext>
              </a:extLst>
            </p:cNvPr>
            <p:cNvSpPr/>
            <p:nvPr/>
          </p:nvSpPr>
          <p:spPr>
            <a:xfrm>
              <a:off x="2531376" y="2334638"/>
              <a:ext cx="681334" cy="1443940"/>
            </a:xfrm>
            <a:prstGeom prst="rect">
              <a:avLst/>
            </a:prstGeom>
            <a:solidFill>
              <a:srgbClr val="CC003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379256A-BFC9-47D5-80C7-BA5F527234BE}"/>
                </a:ext>
              </a:extLst>
            </p:cNvPr>
            <p:cNvSpPr/>
            <p:nvPr/>
          </p:nvSpPr>
          <p:spPr>
            <a:xfrm>
              <a:off x="3772613" y="1634247"/>
              <a:ext cx="681334" cy="2144331"/>
            </a:xfrm>
            <a:prstGeom prst="rect">
              <a:avLst/>
            </a:prstGeom>
            <a:solidFill>
              <a:srgbClr val="FFCC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99479E7E-3434-462A-9623-B66E5C71DF45}"/>
                </a:ext>
              </a:extLst>
            </p:cNvPr>
            <p:cNvSpPr/>
            <p:nvPr/>
          </p:nvSpPr>
          <p:spPr>
            <a:xfrm>
              <a:off x="1264596" y="4033736"/>
              <a:ext cx="3242553" cy="493707"/>
            </a:xfrm>
            <a:prstGeom prst="rect">
              <a:avLst/>
            </a:prstGeom>
            <a:solidFill>
              <a:srgbClr val="99999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oolsToo_Slide" descr="ToolsToo_Slide">
            <a:extLst>
              <a:ext uri="{FF2B5EF4-FFF2-40B4-BE49-F238E27FC236}">
                <a16:creationId xmlns:a16="http://schemas.microsoft.com/office/drawing/2014/main" id="{7A948261-0855-4559-A4B1-7EB7DB88C4A8}"/>
              </a:ext>
            </a:extLst>
          </p:cNvPr>
          <p:cNvSpPr/>
          <p:nvPr userDrawn="1"/>
        </p:nvSpPr>
        <p:spPr>
          <a:xfrm>
            <a:off x="0" y="0"/>
            <a:ext cx="12195175" cy="685958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710452" y="1118925"/>
            <a:ext cx="11075147" cy="600146"/>
          </a:xfrm>
          <a:prstGeom prst="rect">
            <a:avLst/>
          </a:prstGeom>
        </p:spPr>
        <p:txBody>
          <a:bodyPr vert="horz" lIns="0" tIns="72000" rIns="0" bIns="72000" rtlCol="0" anchor="ctr" anchorCtr="0">
            <a:spAutoFit/>
          </a:bodyPr>
          <a:lstStyle/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710452" y="2349500"/>
            <a:ext cx="11075148" cy="34559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Textebene, </a:t>
            </a:r>
            <a:r>
              <a:rPr lang="de-DE" dirty="0" err="1"/>
              <a:t>Statis</a:t>
            </a:r>
            <a:r>
              <a:rPr lang="de-DE" dirty="0"/>
              <a:t> Sans, 23 Pt.</a:t>
            </a:r>
          </a:p>
          <a:p>
            <a:pPr lvl="1"/>
            <a:r>
              <a:rPr lang="de-DE" dirty="0"/>
              <a:t>1. Aufzählungsebene über Menü: „Listenebene erhöhen“ </a:t>
            </a:r>
          </a:p>
          <a:p>
            <a:pPr lvl="2"/>
            <a:r>
              <a:rPr lang="de-DE" dirty="0"/>
              <a:t>2. Aufzählungsebene über Menü: „Listenebene erhöhen“</a:t>
            </a:r>
          </a:p>
          <a:p>
            <a:pPr lvl="3"/>
            <a:r>
              <a:rPr lang="de-DE" dirty="0"/>
              <a:t>3. Aufzählungsebene über Menü: „Listenebene erhöhen“</a:t>
            </a:r>
          </a:p>
          <a:p>
            <a:pPr lvl="2"/>
            <a:endParaRPr lang="de-DE" dirty="0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 bwMode="gray">
          <a:xfrm>
            <a:off x="9516742" y="6300663"/>
            <a:ext cx="1501778" cy="26352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lang="de-DE" sz="1000" b="0" smtClean="0">
                <a:solidFill>
                  <a:schemeClr val="tx2"/>
                </a:solidFill>
                <a:latin typeface="Statis Sans Light" panose="020B0403050000020004" pitchFamily="34" charset="0"/>
              </a:defRPr>
            </a:lvl1pPr>
          </a:lstStyle>
          <a:p>
            <a:fld id="{F43259B8-8067-46A8-90D1-EFF90B696291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11087099" y="6300663"/>
            <a:ext cx="687235" cy="26352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lang="de-DE" sz="1000" b="0" smtClean="0">
                <a:solidFill>
                  <a:schemeClr val="tx2"/>
                </a:solidFill>
                <a:latin typeface="Statis Sans Light" panose="020B0403050000020004" pitchFamily="34" charset="0"/>
              </a:defRPr>
            </a:lvl1pPr>
          </a:lstStyle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3E24834-4765-43C9-A4E2-666FDDDE9889}"/>
              </a:ext>
            </a:extLst>
          </p:cNvPr>
          <p:cNvSpPr/>
          <p:nvPr userDrawn="1"/>
        </p:nvSpPr>
        <p:spPr>
          <a:xfrm>
            <a:off x="10231148" y="561252"/>
            <a:ext cx="1557637" cy="21479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de-DE" sz="1600" kern="1200" dirty="0">
                <a:solidFill>
                  <a:srgbClr val="999999"/>
                </a:solidFill>
                <a:latin typeface="Statis Sans" panose="020B0503050000020004" pitchFamily="34" charset="0"/>
                <a:ea typeface="+mn-ea"/>
                <a:cs typeface="+mn-cs"/>
              </a:rPr>
              <a:t>destatis.de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B76BBCE-4D0F-46A0-8D07-20DAA2585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942976" y="6300661"/>
            <a:ext cx="8494592" cy="263521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>
                <a:solidFill>
                  <a:schemeClr val="tx1"/>
                </a:solidFill>
                <a:latin typeface="Statis Sans Light" panose="020B0403050000020004" pitchFamily="34" charset="0"/>
              </a:defRPr>
            </a:lvl1pPr>
          </a:lstStyle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0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1" r:id="rId6"/>
    <p:sldLayoutId id="2147483657" r:id="rId7"/>
    <p:sldLayoutId id="2147483659" r:id="rId8"/>
    <p:sldLayoutId id="2147483665" r:id="rId9"/>
    <p:sldLayoutId id="2147483661" r:id="rId10"/>
    <p:sldLayoutId id="2147483664" r:id="rId11"/>
    <p:sldLayoutId id="2147483663" r:id="rId12"/>
    <p:sldLayoutId id="2147483658" r:id="rId13"/>
    <p:sldLayoutId id="2147483662" r:id="rId14"/>
    <p:sldLayoutId id="2147483682" r:id="rId15"/>
  </p:sldLayoutIdLst>
  <p:transition>
    <p:fade/>
  </p:transition>
  <p:hf hdr="0"/>
  <p:txStyles>
    <p:titleStyle>
      <a:lvl1pPr algn="l" defTabSz="1219444" rtl="0" eaLnBrk="1" latinLnBrk="0" hangingPunct="1">
        <a:lnSpc>
          <a:spcPct val="8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19444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Tx/>
        <a:buNone/>
        <a:defRPr lang="de-DE" sz="2300" b="0" kern="1200" baseline="0" dirty="0" smtClean="0">
          <a:solidFill>
            <a:schemeClr val="tx2"/>
          </a:solidFill>
          <a:latin typeface="+mn-lt"/>
          <a:ea typeface="+mn-ea"/>
          <a:cs typeface="+mn-cs"/>
        </a:defRPr>
      </a:lvl1pPr>
      <a:lvl2pPr marL="355600" indent="-355600" algn="l" defTabSz="1219444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SzPct val="150000"/>
        <a:buFont typeface="Statis Sans" panose="020B0500000000000000" pitchFamily="34" charset="0"/>
        <a:buChar char="»"/>
        <a:tabLst/>
        <a:defRPr sz="2000" b="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717550" indent="-361950" algn="l" defTabSz="1219444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SzPct val="150000"/>
        <a:buFont typeface="Statis Sans" panose="020B0500000000000000" pitchFamily="34" charset="0"/>
        <a:buChar char="»"/>
        <a:defRPr lang="de-DE" sz="2000" b="0" kern="1200" baseline="0" dirty="0" smtClean="0">
          <a:solidFill>
            <a:schemeClr val="tx2"/>
          </a:solidFill>
          <a:latin typeface="+mn-lt"/>
          <a:ea typeface="+mn-ea"/>
          <a:cs typeface="+mn-cs"/>
        </a:defRPr>
      </a:lvl3pPr>
      <a:lvl4pPr marL="990600" indent="-238125" algn="l" defTabSz="1219444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1800" b="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875008" indent="-368374" algn="l" defTabSz="1054311" rtl="0" eaLnBrk="1" latinLnBrk="0" hangingPunct="1">
        <a:lnSpc>
          <a:spcPct val="100000"/>
        </a:lnSpc>
        <a:spcBef>
          <a:spcPts val="800"/>
        </a:spcBef>
        <a:buClr>
          <a:schemeClr val="bg1"/>
        </a:buClr>
        <a:buSzPct val="80000"/>
        <a:buFont typeface="Statis Sans" pitchFamily="2" charset="2"/>
        <a:buChar char="n"/>
        <a:defRPr sz="1900" b="0" kern="1200" baseline="0">
          <a:solidFill>
            <a:schemeClr val="tx1"/>
          </a:solidFill>
          <a:latin typeface="Statis Sans Light" panose="020B0403050000020004" pitchFamily="34" charset="0"/>
          <a:ea typeface="+mn-ea"/>
          <a:cs typeface="+mn-cs"/>
        </a:defRPr>
      </a:lvl5pPr>
      <a:lvl6pPr marL="2875008" indent="-368374" algn="l" defTabSz="1219444" rtl="0" eaLnBrk="1" latinLnBrk="0" hangingPunct="1">
        <a:lnSpc>
          <a:spcPct val="100000"/>
        </a:lnSpc>
        <a:spcBef>
          <a:spcPts val="800"/>
        </a:spcBef>
        <a:buClr>
          <a:schemeClr val="bg1"/>
        </a:buClr>
        <a:buSzPct val="80000"/>
        <a:buFont typeface="Statis Sans" pitchFamily="2" charset="2"/>
        <a:buChar char="n"/>
        <a:defRPr sz="1900" b="0" kern="1200" baseline="0">
          <a:solidFill>
            <a:schemeClr val="tx1"/>
          </a:solidFill>
          <a:latin typeface="Statis Sans Light" panose="020B0403050000020004" pitchFamily="34" charset="0"/>
          <a:ea typeface="+mn-ea"/>
          <a:cs typeface="+mn-cs"/>
        </a:defRPr>
      </a:lvl6pPr>
      <a:lvl7pPr marL="3963192" indent="-304861" algn="l" defTabSz="1219444" rtl="0" eaLnBrk="1" latinLnBrk="0" hangingPunct="1">
        <a:spcBef>
          <a:spcPct val="20000"/>
        </a:spcBef>
        <a:buFont typeface="Statis Sans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914" indent="-304861" algn="l" defTabSz="1219444" rtl="0" eaLnBrk="1" latinLnBrk="0" hangingPunct="1">
        <a:spcBef>
          <a:spcPct val="20000"/>
        </a:spcBef>
        <a:buFont typeface="Statis Sans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636" indent="-304861" algn="l" defTabSz="1219444" rtl="0" eaLnBrk="1" latinLnBrk="0" hangingPunct="1">
        <a:spcBef>
          <a:spcPct val="20000"/>
        </a:spcBef>
        <a:buFont typeface="Statis Sans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2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44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166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888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1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33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053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775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855" userDrawn="1">
          <p15:clr>
            <a:srgbClr val="F26B43"/>
          </p15:clr>
        </p15:guide>
        <p15:guide id="2" pos="439" userDrawn="1">
          <p15:clr>
            <a:srgbClr val="F26B43"/>
          </p15:clr>
        </p15:guide>
        <p15:guide id="3" pos="7424" userDrawn="1">
          <p15:clr>
            <a:srgbClr val="F26B43"/>
          </p15:clr>
        </p15:guide>
        <p15:guide id="4" orient="horz" pos="1480" userDrawn="1">
          <p15:clr>
            <a:srgbClr val="F26B43"/>
          </p15:clr>
        </p15:guide>
        <p15:guide id="6" orient="horz" pos="1072" userDrawn="1">
          <p15:clr>
            <a:srgbClr val="F26B43"/>
          </p15:clr>
        </p15:guide>
        <p15:guide id="7" orient="horz" pos="36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www.bundesfinanzministerium.de/Content/DE/Standardartikel/Themen/Steuern/Steuerliche_Themengebiete/NeSt/nest-jahreskonferenz-programm.html" TargetMode="External"/><Relationship Id="rId4" Type="http://schemas.openxmlformats.org/officeDocument/2006/relationships/hyperlink" Target="https://www.forschungsdatenzentrum.de/sites/default/files/btp_2013-2019_on-site_mdr-prod.pdf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jp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rrow.apache.org/cookbook/r" TargetMode="External"/><Relationship Id="rId3" Type="http://schemas.openxmlformats.org/officeDocument/2006/relationships/hyperlink" Target="https://parquet.apache.org/" TargetMode="External"/><Relationship Id="rId7" Type="http://schemas.openxmlformats.org/officeDocument/2006/relationships/hyperlink" Target="https://r4ds.hadley.nz/arrow#partitioning" TargetMode="External"/><Relationship Id="rId12" Type="http://schemas.openxmlformats.org/officeDocument/2006/relationships/hyperlink" Target="https://arrow.apache.org/docs/r/articles/dataset.html#batch-processing-experimental" TargetMode="External"/><Relationship Id="rId2" Type="http://schemas.openxmlformats.org/officeDocument/2006/relationships/hyperlink" Target="https://www.forschungsdatenzentrum.de/de/steuern/btp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uckdb.org/" TargetMode="External"/><Relationship Id="rId11" Type="http://schemas.openxmlformats.org/officeDocument/2006/relationships/hyperlink" Target="https://arrow.apache.org/cookbook/r/manipulating-data---tables.html#use-dplyr-verbs-in-arrow" TargetMode="External"/><Relationship Id="rId5" Type="http://schemas.openxmlformats.org/officeDocument/2006/relationships/hyperlink" Target="https://arrow.apache.org/docs/r/" TargetMode="External"/><Relationship Id="rId10" Type="http://schemas.openxmlformats.org/officeDocument/2006/relationships/hyperlink" Target="https://confluence.prod.stba.in.bund.de/x/qY7FAg" TargetMode="External"/><Relationship Id="rId4" Type="http://schemas.openxmlformats.org/officeDocument/2006/relationships/hyperlink" Target="https://arrow.apache.org/" TargetMode="External"/><Relationship Id="rId9" Type="http://schemas.openxmlformats.org/officeDocument/2006/relationships/hyperlink" Target="https://github.com/thisisnic/awesome-arrow-r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oliver.hauke@destatis.de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de-DE" dirty="0"/>
            </a:br>
            <a:r>
              <a:rPr lang="de-DE" u="sng" dirty="0"/>
              <a:t>Effiziente Auswertung steuerstatistischer Daten</a:t>
            </a:r>
            <a:br>
              <a:rPr lang="de-DE" u="sng" dirty="0"/>
            </a:br>
            <a:r>
              <a:rPr lang="de-DE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 FDZ </a:t>
            </a:r>
            <a:r>
              <a:rPr lang="de-DE" sz="3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OnSite</a:t>
            </a:r>
            <a:r>
              <a:rPr lang="de-DE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-Server mithilfe von R</a:t>
            </a:r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Demonstriert anhand des Business-Tax-Panels (BTP)</a:t>
            </a:r>
            <a:endParaRPr lang="de-DE" sz="1800" dirty="0"/>
          </a:p>
          <a:p>
            <a:endParaRPr lang="de-DE" sz="1400" dirty="0"/>
          </a:p>
          <a:p>
            <a:r>
              <a:rPr lang="de-DE" b="1" dirty="0"/>
              <a:t>Oliver Hauke </a:t>
            </a:r>
            <a:r>
              <a:rPr lang="de-DE" sz="1800" dirty="0"/>
              <a:t>(Statistisches Bundesamt, IT-Kompetenzzentrum „Analyse und Auswertung“)</a:t>
            </a:r>
          </a:p>
          <a:p>
            <a:r>
              <a:rPr lang="de-DE" sz="1800" dirty="0" err="1"/>
              <a:t>NeSt</a:t>
            </a:r>
            <a:r>
              <a:rPr lang="de-DE" sz="1800" dirty="0"/>
              <a:t>-Webinar am 28.03.2025</a:t>
            </a:r>
          </a:p>
        </p:txBody>
      </p:sp>
    </p:spTree>
    <p:extLst>
      <p:ext uri="{BB962C8B-B14F-4D97-AF65-F5344CB8AC3E}">
        <p14:creationId xmlns:p14="http://schemas.microsoft.com/office/powerpoint/2010/main" val="29060435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1CC6E91-6BF4-442F-8FE2-0F643254AB3A}"/>
              </a:ext>
            </a:extLst>
          </p:cNvPr>
          <p:cNvGrpSpPr/>
          <p:nvPr/>
        </p:nvGrpSpPr>
        <p:grpSpPr>
          <a:xfrm>
            <a:off x="8112086" y="1901957"/>
            <a:ext cx="3654090" cy="3739822"/>
            <a:chOff x="8112086" y="1901957"/>
            <a:chExt cx="3654090" cy="3739822"/>
          </a:xfrm>
        </p:grpSpPr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63CD12B8-BBB1-48EE-9FE8-15C8BE7CA851}"/>
                </a:ext>
              </a:extLst>
            </p:cNvPr>
            <p:cNvGrpSpPr/>
            <p:nvPr/>
          </p:nvGrpSpPr>
          <p:grpSpPr>
            <a:xfrm>
              <a:off x="8112086" y="1901957"/>
              <a:ext cx="3654090" cy="3291866"/>
              <a:chOff x="8112086" y="1901957"/>
              <a:chExt cx="3654090" cy="3291866"/>
            </a:xfrm>
          </p:grpSpPr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38B5404E-F0F7-428F-AAED-0AD7281A7D84}"/>
                  </a:ext>
                </a:extLst>
              </p:cNvPr>
              <p:cNvSpPr/>
              <p:nvPr/>
            </p:nvSpPr>
            <p:spPr>
              <a:xfrm>
                <a:off x="8112086" y="1901957"/>
                <a:ext cx="3654090" cy="3291866"/>
              </a:xfrm>
              <a:prstGeom prst="rect">
                <a:avLst/>
              </a:prstGeom>
              <a:solidFill>
                <a:srgbClr val="490B8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000" dirty="0"/>
              </a:p>
            </p:txBody>
          </p: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17D9F445-C260-49F3-889C-6360072797BD}"/>
                  </a:ext>
                </a:extLst>
              </p:cNvPr>
              <p:cNvGrpSpPr/>
              <p:nvPr/>
            </p:nvGrpSpPr>
            <p:grpSpPr>
              <a:xfrm>
                <a:off x="8253751" y="1917141"/>
                <a:ext cx="3370757" cy="2653788"/>
                <a:chOff x="8261909" y="1917141"/>
                <a:chExt cx="3370757" cy="2653788"/>
              </a:xfrm>
            </p:grpSpPr>
            <p:pic>
              <p:nvPicPr>
                <p:cNvPr id="45" name="Grafik 44">
                  <a:extLst>
                    <a:ext uri="{FF2B5EF4-FFF2-40B4-BE49-F238E27FC236}">
                      <a16:creationId xmlns:a16="http://schemas.microsoft.com/office/drawing/2014/main" id="{C43FC86C-7F1D-4099-B7F9-D8D3CD8DF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61909" y="2744099"/>
                  <a:ext cx="3370757" cy="182683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B1CD47B1-1A65-49CF-96D4-C298659AFBD8}"/>
                    </a:ext>
                  </a:extLst>
                </p:cNvPr>
                <p:cNvSpPr txBox="1"/>
                <p:nvPr/>
              </p:nvSpPr>
              <p:spPr>
                <a:xfrm>
                  <a:off x="8342326" y="1917141"/>
                  <a:ext cx="3209925" cy="80021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2300" b="1" dirty="0">
                      <a:solidFill>
                        <a:schemeClr val="bg1"/>
                      </a:solidFill>
                    </a:rPr>
                    <a:t>Wissenschaftliche Auswertung</a:t>
                  </a:r>
                </a:p>
              </p:txBody>
            </p:sp>
          </p:grpSp>
        </p:grpSp>
        <p:sp>
          <p:nvSpPr>
            <p:cNvPr id="44" name="Textplatzhalter 2">
              <a:extLst>
                <a:ext uri="{FF2B5EF4-FFF2-40B4-BE49-F238E27FC236}">
                  <a16:creationId xmlns:a16="http://schemas.microsoft.com/office/drawing/2014/main" id="{CEA6BE72-7D53-4BCA-8D7B-03FFD5966D8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150792" y="5349511"/>
              <a:ext cx="3566750" cy="29226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 anchor="b">
              <a:noAutofit/>
            </a:bodyPr>
            <a:lstStyle>
              <a:lvl1pPr marL="0" indent="0" algn="l" defTabSz="1219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lang="de-DE" sz="900" b="0" kern="1200" baseline="0">
                  <a:solidFill>
                    <a:schemeClr val="tx2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1pPr>
              <a:lvl2pPr marL="355600" indent="-35560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1"/>
                </a:buClr>
                <a:buSzPct val="150000"/>
                <a:buFont typeface="Statis Sans" panose="020B0500000000000000" pitchFamily="34" charset="0"/>
                <a:buChar char="»"/>
                <a:tabLst/>
                <a:defRPr sz="20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717550" indent="-36195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2"/>
                </a:buClr>
                <a:buSzPct val="150000"/>
                <a:buFont typeface="Statis Sans" panose="020B0500000000000000" pitchFamily="34" charset="0"/>
                <a:buChar char="»"/>
                <a:defRPr lang="de-DE" sz="2000" b="0" kern="1200" baseline="0" dirty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990600" indent="-238125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tabLst/>
                <a:defRPr sz="18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875008" indent="-368374" algn="l" defTabSz="1054311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5pPr>
              <a:lvl6pPr marL="2875008" indent="-368374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6pPr>
              <a:lvl7pPr marL="3963192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914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2636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dirty="0">
                <a:hlinkClick r:id="rId4"/>
              </a:endParaRPr>
            </a:p>
            <a:p>
              <a:r>
                <a:rPr lang="de-DE" dirty="0">
                  <a:hlinkClick r:id="rId5"/>
                </a:rPr>
                <a:t>https://www.bundesfinanzministerium.de/Content/DE/Standardartikel/Themen/Steuern/Steuerliche_Themengebiete/NeSt/nest-jahreskonferenz-programm.html</a:t>
              </a:r>
              <a:r>
                <a:rPr lang="de-DE" dirty="0"/>
                <a:t> </a:t>
              </a:r>
            </a:p>
          </p:txBody>
        </p:sp>
      </p:grp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D1B9597-E34E-45B6-B122-791CACDE3F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4013DF3-3ECF-4DAE-8BB0-3147499E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1118925"/>
            <a:ext cx="11075147" cy="600146"/>
          </a:xfrm>
        </p:spPr>
        <p:txBody>
          <a:bodyPr/>
          <a:lstStyle/>
          <a:p>
            <a:r>
              <a:rPr lang="de-DE" dirty="0"/>
              <a:t>Ausgangslage – Daten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013617-6555-40B2-8736-53F311BD847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123E15C5-F997-45B8-852E-81902DB83842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8D00E4C-BF02-4894-B376-6FC61ACF360A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 dirty="0"/>
              <a:t>Statistisches </a:t>
            </a:r>
            <a:r>
              <a:rPr lang="en-GB" dirty="0" err="1"/>
              <a:t>Bundesamt</a:t>
            </a:r>
            <a:r>
              <a:rPr lang="en-GB" dirty="0"/>
              <a:t>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17FFA10-91EA-4CAA-A470-D3B4A7CFCED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2</a:t>
            </a:fld>
            <a:endParaRPr lang="de-DE" dirty="0">
              <a:latin typeface="Statis Sans Light" panose="020B04030500000200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E2F610F-1645-424C-A673-68F28E0B03A8}"/>
              </a:ext>
            </a:extLst>
          </p:cNvPr>
          <p:cNvGrpSpPr/>
          <p:nvPr/>
        </p:nvGrpSpPr>
        <p:grpSpPr>
          <a:xfrm>
            <a:off x="4463503" y="1901957"/>
            <a:ext cx="3654090" cy="3620885"/>
            <a:chOff x="4463503" y="1901957"/>
            <a:chExt cx="3654090" cy="3620885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3AF0E5B2-A893-4A2E-A384-D00967D6FFBC}"/>
                </a:ext>
              </a:extLst>
            </p:cNvPr>
            <p:cNvSpPr/>
            <p:nvPr/>
          </p:nvSpPr>
          <p:spPr>
            <a:xfrm>
              <a:off x="4463503" y="1901957"/>
              <a:ext cx="3654090" cy="3291866"/>
            </a:xfrm>
            <a:prstGeom prst="rect">
              <a:avLst/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BC332D8-8AF9-481F-8C81-AF248BE9E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3041" y="2458777"/>
              <a:ext cx="3566084" cy="2058571"/>
            </a:xfrm>
            <a:prstGeom prst="rect">
              <a:avLst/>
            </a:prstGeom>
            <a:solidFill>
              <a:srgbClr val="FFC000"/>
            </a:solidFill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F6BA22B0-F400-41CA-B114-AD9147ED6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8545" y="2784853"/>
              <a:ext cx="3364682" cy="159674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2" name="Textplatzhalter 2">
              <a:extLst>
                <a:ext uri="{FF2B5EF4-FFF2-40B4-BE49-F238E27FC236}">
                  <a16:creationId xmlns:a16="http://schemas.microsoft.com/office/drawing/2014/main" id="{6610743F-EAD5-4B99-9B1C-C56574D9EDD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07173" y="5230574"/>
              <a:ext cx="3566750" cy="29226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 anchor="b">
              <a:noAutofit/>
            </a:bodyPr>
            <a:lstStyle>
              <a:lvl1pPr marL="0" indent="0" algn="l" defTabSz="1219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lang="de-DE" sz="900" b="0" kern="1200" baseline="0">
                  <a:solidFill>
                    <a:schemeClr val="tx2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1pPr>
              <a:lvl2pPr marL="355600" indent="-35560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1"/>
                </a:buClr>
                <a:buSzPct val="150000"/>
                <a:buFont typeface="Statis Sans" panose="020B0500000000000000" pitchFamily="34" charset="0"/>
                <a:buChar char="»"/>
                <a:tabLst/>
                <a:defRPr sz="20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717550" indent="-36195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2"/>
                </a:buClr>
                <a:buSzPct val="150000"/>
                <a:buFont typeface="Statis Sans" panose="020B0500000000000000" pitchFamily="34" charset="0"/>
                <a:buChar char="»"/>
                <a:defRPr lang="de-DE" sz="2000" b="0" kern="1200" baseline="0" dirty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990600" indent="-238125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tabLst/>
                <a:defRPr sz="18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875008" indent="-368374" algn="l" defTabSz="1054311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5pPr>
              <a:lvl6pPr marL="2875008" indent="-368374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6pPr>
              <a:lvl7pPr marL="3963192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914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2636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dirty="0">
                <a:hlinkClick r:id="rId4"/>
              </a:endParaRPr>
            </a:p>
            <a:p>
              <a:r>
                <a:rPr lang="de-DE" dirty="0">
                  <a:hlinkClick r:id="rId4"/>
                </a:rPr>
                <a:t>https://www.forschungsdatenzentrum.de/sites/default/files/btp_2013-2019_on-site_mdr-prod.pdf</a:t>
              </a:r>
              <a:r>
                <a:rPr lang="de-DE" dirty="0"/>
                <a:t> 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F0EDA29-8F06-441F-8493-8E521CBC26AF}"/>
                </a:ext>
              </a:extLst>
            </p:cNvPr>
            <p:cNvSpPr txBox="1"/>
            <p:nvPr/>
          </p:nvSpPr>
          <p:spPr>
            <a:xfrm>
              <a:off x="4901781" y="1947216"/>
              <a:ext cx="3051806" cy="44627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2300" b="1" dirty="0">
                  <a:solidFill>
                    <a:schemeClr val="tx2"/>
                  </a:solidFill>
                </a:rPr>
                <a:t>Datenbereitstellung</a:t>
              </a: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2EC06CF4-A6AD-49C1-AF3F-95A9DF50B189}"/>
              </a:ext>
            </a:extLst>
          </p:cNvPr>
          <p:cNvSpPr txBox="1"/>
          <p:nvPr/>
        </p:nvSpPr>
        <p:spPr>
          <a:xfrm>
            <a:off x="4663624" y="4700234"/>
            <a:ext cx="3147015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rgbClr val="FF0000"/>
                </a:solidFill>
              </a:rPr>
              <a:t>In SAS ca. 54 min Laufzeit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AEA4289-29C4-43F6-9673-F73430E7505B}"/>
              </a:ext>
            </a:extLst>
          </p:cNvPr>
          <p:cNvGrpSpPr/>
          <p:nvPr/>
        </p:nvGrpSpPr>
        <p:grpSpPr>
          <a:xfrm>
            <a:off x="762845" y="1734231"/>
            <a:ext cx="3718881" cy="3922699"/>
            <a:chOff x="762845" y="1734231"/>
            <a:chExt cx="3718881" cy="3922699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519B5050-44C2-427A-9D3E-AA5448B24C58}"/>
                </a:ext>
              </a:extLst>
            </p:cNvPr>
            <p:cNvSpPr/>
            <p:nvPr/>
          </p:nvSpPr>
          <p:spPr>
            <a:xfrm>
              <a:off x="1073894" y="3366566"/>
              <a:ext cx="45719" cy="45719"/>
            </a:xfrm>
            <a:prstGeom prst="rect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9DFB435-8F37-4D17-B836-BE42EA61DB85}"/>
                </a:ext>
              </a:extLst>
            </p:cNvPr>
            <p:cNvGrpSpPr/>
            <p:nvPr/>
          </p:nvGrpSpPr>
          <p:grpSpPr>
            <a:xfrm>
              <a:off x="762845" y="1734231"/>
              <a:ext cx="3718881" cy="3922699"/>
              <a:chOff x="762845" y="1734231"/>
              <a:chExt cx="3718881" cy="3922699"/>
            </a:xfrm>
          </p:grpSpPr>
          <p:cxnSp>
            <p:nvCxnSpPr>
              <p:cNvPr id="18" name="Gerade Verbindung mit Pfeil 17">
                <a:extLst>
                  <a:ext uri="{FF2B5EF4-FFF2-40B4-BE49-F238E27FC236}">
                    <a16:creationId xmlns:a16="http://schemas.microsoft.com/office/drawing/2014/main" id="{9CE5A590-06B5-445B-B9EB-BD7FAE2E8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967" y="3398294"/>
                <a:ext cx="2976733" cy="22921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 Verbindung mit Pfeil 24">
                <a:extLst>
                  <a:ext uri="{FF2B5EF4-FFF2-40B4-BE49-F238E27FC236}">
                    <a16:creationId xmlns:a16="http://schemas.microsoft.com/office/drawing/2014/main" id="{CC56F21C-8F8A-478F-B69F-8F361059B1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6754" y="3377766"/>
                <a:ext cx="8117" cy="2279164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7FDD189-5395-49D4-9D31-4067015C2CED}"/>
                  </a:ext>
                </a:extLst>
              </p:cNvPr>
              <p:cNvSpPr txBox="1"/>
              <p:nvPr/>
            </p:nvSpPr>
            <p:spPr>
              <a:xfrm>
                <a:off x="1022806" y="1734231"/>
                <a:ext cx="3458920" cy="1523494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23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Business-Tax-Panel</a:t>
                </a:r>
              </a:p>
              <a:p>
                <a:pPr algn="l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de-DE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NeSt</a:t>
                </a:r>
                <a:r>
                  <a:rPr lang="de-DE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Produkt (2024)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Großer Datensatz (bspw. </a:t>
                </a:r>
                <a:r>
                  <a:rPr lang="de-DE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840 GB </a:t>
                </a:r>
                <a:r>
                  <a:rPr lang="de-DE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Stata</a:t>
                </a:r>
                <a:r>
                  <a:rPr lang="de-DE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-Dateien)</a:t>
                </a:r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C9A9B4A8-8377-48A6-A337-FE2A94A9A928}"/>
                  </a:ext>
                </a:extLst>
              </p:cNvPr>
              <p:cNvSpPr/>
              <p:nvPr/>
            </p:nvSpPr>
            <p:spPr>
              <a:xfrm>
                <a:off x="762845" y="3438373"/>
                <a:ext cx="3613377" cy="2215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</a:pPr>
                <a:r>
                  <a:rPr lang="de-DE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2 700+ Merkmale </a:t>
                </a:r>
                <a:b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(Verknüpfung von 6 Unternehmenssteuer-statistiken sowie dem Unternehmensregister)</a:t>
                </a:r>
              </a:p>
              <a:p>
                <a:pPr lvl="1" indent="0">
                  <a:buNone/>
                </a:pPr>
                <a:endPara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1" indent="0">
                  <a:buNone/>
                </a:pPr>
                <a:r>
                  <a:rPr lang="de-DE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67 Mio. Beobachtungen </a:t>
                </a:r>
                <a:b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(2013-2019)</a:t>
                </a:r>
              </a:p>
            </p:txBody>
          </p:sp>
        </p:grpSp>
      </p:grp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096F241D-D8A1-4939-B0FA-C521E77DB7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220BABA-BD2C-4C5E-9BDD-8C60761C8110}"/>
              </a:ext>
            </a:extLst>
          </p:cNvPr>
          <p:cNvSpPr txBox="1"/>
          <p:nvPr/>
        </p:nvSpPr>
        <p:spPr>
          <a:xfrm>
            <a:off x="8577065" y="4685860"/>
            <a:ext cx="2714205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0000"/>
                </a:solidFill>
              </a:rPr>
              <a:t>In SAS ca. 2h Laufzeit</a:t>
            </a:r>
            <a:r>
              <a:rPr lang="de-DE" sz="20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7955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66">
            <a:extLst>
              <a:ext uri="{FF2B5EF4-FFF2-40B4-BE49-F238E27FC236}">
                <a16:creationId xmlns:a16="http://schemas.microsoft.com/office/drawing/2014/main" id="{86B65E9F-99EC-40E0-A276-3A8FF8943CC0}"/>
              </a:ext>
            </a:extLst>
          </p:cNvPr>
          <p:cNvSpPr/>
          <p:nvPr/>
        </p:nvSpPr>
        <p:spPr>
          <a:xfrm>
            <a:off x="7417819" y="1568328"/>
            <a:ext cx="4594971" cy="4948742"/>
          </a:xfrm>
          <a:prstGeom prst="rect">
            <a:avLst/>
          </a:prstGeom>
          <a:solidFill>
            <a:srgbClr val="FFC000">
              <a:alpha val="36078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01C097E-83EC-4C92-9BEF-7DBC12D392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07628A-DC2C-4DED-B693-2389EAA85F8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942976" y="6300661"/>
            <a:ext cx="8494592" cy="263521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de-DE"/>
              <a:t>Statistisches Bundesamt (Destatis)</a:t>
            </a:r>
            <a:endParaRPr lang="de-DE">
              <a:latin typeface="Statis Sans Light" panose="020B0403050000020004" pitchFamily="34" charset="0"/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863A4A6-C6ED-41F0-A88D-A86D2F6FF35D}"/>
              </a:ext>
            </a:extLst>
          </p:cNvPr>
          <p:cNvGrpSpPr/>
          <p:nvPr/>
        </p:nvGrpSpPr>
        <p:grpSpPr>
          <a:xfrm>
            <a:off x="604110" y="2326852"/>
            <a:ext cx="3860569" cy="1280042"/>
            <a:chOff x="1626150" y="7246674"/>
            <a:chExt cx="3860569" cy="1280042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82144CA0-3840-4BAA-84CD-7F36014EACE1}"/>
                </a:ext>
              </a:extLst>
            </p:cNvPr>
            <p:cNvSpPr/>
            <p:nvPr/>
          </p:nvSpPr>
          <p:spPr>
            <a:xfrm>
              <a:off x="1816785" y="7384996"/>
              <a:ext cx="3435596" cy="1141720"/>
            </a:xfrm>
            <a:prstGeom prst="rect">
              <a:avLst/>
            </a:prstGeom>
            <a:solidFill>
              <a:srgbClr val="490B8D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>
                <a:latin typeface="Statis Sans" panose="020B0503050000020004" pitchFamily="34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4C14E216-0BA5-4BDB-8694-7D328DEAFD62}"/>
                </a:ext>
              </a:extLst>
            </p:cNvPr>
            <p:cNvSpPr txBox="1"/>
            <p:nvPr/>
          </p:nvSpPr>
          <p:spPr>
            <a:xfrm>
              <a:off x="1816785" y="7246674"/>
              <a:ext cx="3435596" cy="338554"/>
            </a:xfrm>
            <a:prstGeom prst="rect">
              <a:avLst/>
            </a:prstGeom>
            <a:solidFill>
              <a:srgbClr val="490B8D">
                <a:alpha val="72941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>
                  <a:solidFill>
                    <a:schemeClr val="bg1"/>
                  </a:solidFill>
                  <a:latin typeface="Statis Sans" panose="020B0503050000020004" pitchFamily="34" charset="0"/>
                  <a:ea typeface="+mj-ea"/>
                  <a:cs typeface="+mj-cs"/>
                </a:rPr>
                <a:t>Lokale Analyse-PC</a:t>
              </a: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727BA8AF-EF27-49C6-9CB5-DFA024F42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1945" y="7982174"/>
              <a:ext cx="886243" cy="288029"/>
            </a:xfrm>
            <a:prstGeom prst="rect">
              <a:avLst/>
            </a:prstGeom>
          </p:spPr>
        </p:pic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0518ACD1-45F2-4146-9D73-95B1D5D6F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559" y="7975882"/>
              <a:ext cx="294321" cy="294321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CCBF94A2-1603-439C-85FC-5C304341A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255" y="7976646"/>
              <a:ext cx="357243" cy="276864"/>
            </a:xfrm>
            <a:prstGeom prst="rect">
              <a:avLst/>
            </a:prstGeom>
          </p:spPr>
        </p:pic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62F9C86-9057-4758-97BD-22E8FD50C284}"/>
                </a:ext>
              </a:extLst>
            </p:cNvPr>
            <p:cNvSpPr txBox="1"/>
            <p:nvPr/>
          </p:nvSpPr>
          <p:spPr>
            <a:xfrm>
              <a:off x="4389887" y="7916316"/>
              <a:ext cx="109683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>
                  <a:latin typeface="Statis Sans" panose="020B0503050000020004" pitchFamily="34" charset="0"/>
                </a:rPr>
                <a:t>Nur ausgewählte Standorten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EF89EEB8-7739-4BFF-BC3D-3F8D456FE91C}"/>
                </a:ext>
              </a:extLst>
            </p:cNvPr>
            <p:cNvSpPr txBox="1"/>
            <p:nvPr/>
          </p:nvSpPr>
          <p:spPr>
            <a:xfrm>
              <a:off x="3167202" y="7921852"/>
              <a:ext cx="8823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>
                  <a:latin typeface="Statis Sans" panose="020B0503050000020004" pitchFamily="34" charset="0"/>
                </a:rPr>
                <a:t>Nur bestehende Verträge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9EED963A-49C4-4BC0-9D93-126AB297D5D8}"/>
                </a:ext>
              </a:extLst>
            </p:cNvPr>
            <p:cNvSpPr txBox="1"/>
            <p:nvPr/>
          </p:nvSpPr>
          <p:spPr>
            <a:xfrm>
              <a:off x="1626150" y="7607179"/>
              <a:ext cx="37899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>
                  <a:solidFill>
                    <a:srgbClr val="490B8D"/>
                  </a:solidFill>
                  <a:latin typeface="Statis Sans" panose="020B0503050000020004" pitchFamily="34" charset="0"/>
                </a:rPr>
                <a:t>Tendentiell geringe und variierende Kapazitäten</a:t>
              </a:r>
            </a:p>
          </p:txBody>
        </p:sp>
      </p:grpSp>
      <p:sp>
        <p:nvSpPr>
          <p:cNvPr id="29" name="Textfeld 28">
            <a:extLst>
              <a:ext uri="{FF2B5EF4-FFF2-40B4-BE49-F238E27FC236}">
                <a16:creationId xmlns:a16="http://schemas.microsoft.com/office/drawing/2014/main" id="{33B17220-A87B-448E-AD6B-4BFC0ACE265A}"/>
              </a:ext>
            </a:extLst>
          </p:cNvPr>
          <p:cNvSpPr txBox="1"/>
          <p:nvPr/>
        </p:nvSpPr>
        <p:spPr>
          <a:xfrm>
            <a:off x="797798" y="4262623"/>
            <a:ext cx="3435596" cy="369332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solidFill>
              <a:srgbClr val="516E99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Server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1B59C1C-FB5B-496C-A362-F8046E067D45}"/>
              </a:ext>
            </a:extLst>
          </p:cNvPr>
          <p:cNvSpPr txBox="1"/>
          <p:nvPr/>
        </p:nvSpPr>
        <p:spPr>
          <a:xfrm>
            <a:off x="794745" y="5337292"/>
            <a:ext cx="3434297" cy="369332"/>
          </a:xfrm>
          <a:prstGeom prst="rect">
            <a:avLst/>
          </a:prstGeom>
          <a:solidFill>
            <a:srgbClr val="145C6C"/>
          </a:solidFill>
          <a:ln>
            <a:solidFill>
              <a:srgbClr val="145C6C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            </a:t>
            </a:r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Server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817F062E-1686-4D73-82B6-8C0BD1A6D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98" y="5333012"/>
            <a:ext cx="993748" cy="322968"/>
          </a:xfrm>
          <a:prstGeom prst="rect">
            <a:avLst/>
          </a:prstGeom>
        </p:spPr>
      </p:pic>
      <p:sp>
        <p:nvSpPr>
          <p:cNvPr id="40" name="Eckige Klammer links 39">
            <a:extLst>
              <a:ext uri="{FF2B5EF4-FFF2-40B4-BE49-F238E27FC236}">
                <a16:creationId xmlns:a16="http://schemas.microsoft.com/office/drawing/2014/main" id="{5FC3EA6E-0873-48D6-891D-D86368F13455}"/>
              </a:ext>
            </a:extLst>
          </p:cNvPr>
          <p:cNvSpPr/>
          <p:nvPr/>
        </p:nvSpPr>
        <p:spPr>
          <a:xfrm>
            <a:off x="685776" y="2278223"/>
            <a:ext cx="114605" cy="2954716"/>
          </a:xfrm>
          <a:prstGeom prst="leftBracket">
            <a:avLst/>
          </a:prstGeom>
          <a:ln w="28575">
            <a:solidFill>
              <a:srgbClr val="490B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42CD88D-3D7D-452F-B90F-92B4BF978362}"/>
              </a:ext>
            </a:extLst>
          </p:cNvPr>
          <p:cNvSpPr txBox="1"/>
          <p:nvPr/>
        </p:nvSpPr>
        <p:spPr>
          <a:xfrm rot="16200000">
            <a:off x="-589018" y="3680098"/>
            <a:ext cx="2228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solidFill>
                  <a:srgbClr val="490B8D"/>
                </a:solidFill>
                <a:latin typeface="Statis Sans" panose="020B0503050000020004" pitchFamily="34" charset="0"/>
              </a:rPr>
              <a:t>Geteilt im StBA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93462D5-D715-4E1D-B806-67C49224620F}"/>
              </a:ext>
            </a:extLst>
          </p:cNvPr>
          <p:cNvCxnSpPr>
            <a:cxnSpLocks/>
            <a:endCxn id="1034" idx="2"/>
          </p:cNvCxnSpPr>
          <p:nvPr/>
        </p:nvCxnSpPr>
        <p:spPr>
          <a:xfrm>
            <a:off x="695996" y="4174463"/>
            <a:ext cx="3782833" cy="0"/>
          </a:xfrm>
          <a:prstGeom prst="line">
            <a:avLst/>
          </a:prstGeom>
          <a:ln w="28575">
            <a:solidFill>
              <a:srgbClr val="490B8D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elle 48">
            <a:extLst>
              <a:ext uri="{FF2B5EF4-FFF2-40B4-BE49-F238E27FC236}">
                <a16:creationId xmlns:a16="http://schemas.microsoft.com/office/drawing/2014/main" id="{30C7EA3B-B032-4BF7-9BBA-30B959336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74978"/>
              </p:ext>
            </p:extLst>
          </p:nvPr>
        </p:nvGraphicFramePr>
        <p:xfrm>
          <a:off x="801373" y="4627082"/>
          <a:ext cx="3434297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83023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2751274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754 GB, max. 128 GB pro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72, &lt;36 empfohlen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sp>
        <p:nvSpPr>
          <p:cNvPr id="77" name="Titel 4">
            <a:extLst>
              <a:ext uri="{FF2B5EF4-FFF2-40B4-BE49-F238E27FC236}">
                <a16:creationId xmlns:a16="http://schemas.microsoft.com/office/drawing/2014/main" id="{4A239061-5985-4714-ACDC-4C60F800A4D0}"/>
              </a:ext>
            </a:extLst>
          </p:cNvPr>
          <p:cNvSpPr txBox="1">
            <a:spLocks/>
          </p:cNvSpPr>
          <p:nvPr/>
        </p:nvSpPr>
        <p:spPr>
          <a:xfrm>
            <a:off x="710452" y="1118925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FDZ-Infrastruktur und deren Weiterentwicklung</a:t>
            </a:r>
          </a:p>
        </p:txBody>
      </p: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0ADF56A2-182F-4BD8-9CFA-ECADAAA81683}"/>
              </a:ext>
            </a:extLst>
          </p:cNvPr>
          <p:cNvGrpSpPr/>
          <p:nvPr/>
        </p:nvGrpSpPr>
        <p:grpSpPr>
          <a:xfrm>
            <a:off x="4905788" y="1728005"/>
            <a:ext cx="2396227" cy="4727162"/>
            <a:chOff x="4509792" y="1407102"/>
            <a:chExt cx="2396227" cy="4727162"/>
          </a:xfrm>
        </p:grpSpPr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50798373-58C1-4073-9DF3-6406909FAEE8}"/>
                </a:ext>
              </a:extLst>
            </p:cNvPr>
            <p:cNvSpPr/>
            <p:nvPr/>
          </p:nvSpPr>
          <p:spPr>
            <a:xfrm>
              <a:off x="4545069" y="1570539"/>
              <a:ext cx="2295643" cy="456372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D39924B3-8C2C-4426-9C62-92983CB60C02}"/>
                </a:ext>
              </a:extLst>
            </p:cNvPr>
            <p:cNvSpPr/>
            <p:nvPr/>
          </p:nvSpPr>
          <p:spPr>
            <a:xfrm>
              <a:off x="4708420" y="2901837"/>
              <a:ext cx="1966361" cy="130617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299E0B2-4578-42F5-A15A-89CE47DBDA91}"/>
                </a:ext>
              </a:extLst>
            </p:cNvPr>
            <p:cNvSpPr txBox="1"/>
            <p:nvPr/>
          </p:nvSpPr>
          <p:spPr>
            <a:xfrm>
              <a:off x="4509792" y="1977037"/>
              <a:ext cx="23962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atis Sans" panose="020B0503050000020004" pitchFamily="34" charset="0"/>
                  <a:ea typeface="+mj-ea"/>
                  <a:cs typeface="+mj-cs"/>
                </a:rPr>
                <a:t>Zugangswege</a:t>
              </a:r>
              <a:endPara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  <a:ea typeface="+mj-ea"/>
                <a:cs typeface="+mj-cs"/>
              </a:endParaRPr>
            </a:p>
          </p:txBody>
        </p:sp>
        <p:pic>
          <p:nvPicPr>
            <p:cNvPr id="80" name="Grafik 79">
              <a:extLst>
                <a:ext uri="{FF2B5EF4-FFF2-40B4-BE49-F238E27FC236}">
                  <a16:creationId xmlns:a16="http://schemas.microsoft.com/office/drawing/2014/main" id="{01F3E4CE-DE87-459E-81E6-CF902212B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5069" y="1407102"/>
              <a:ext cx="2295643" cy="479487"/>
            </a:xfrm>
            <a:prstGeom prst="rect">
              <a:avLst/>
            </a:prstGeom>
          </p:spPr>
        </p:pic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D9118236-80D5-45B0-AC1F-27BE83136AF6}"/>
                </a:ext>
              </a:extLst>
            </p:cNvPr>
            <p:cNvSpPr txBox="1"/>
            <p:nvPr/>
          </p:nvSpPr>
          <p:spPr>
            <a:xfrm>
              <a:off x="4776681" y="2975459"/>
              <a:ext cx="1819729" cy="523220"/>
            </a:xfrm>
            <a:prstGeom prst="rect">
              <a:avLst/>
            </a:prstGeom>
            <a:solidFill>
              <a:srgbClr val="490B8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>
                  <a:solidFill>
                    <a:schemeClr val="bg1">
                      <a:lumMod val="95000"/>
                    </a:schemeClr>
                  </a:solidFill>
                </a:rPr>
                <a:t>Gastwissenschafts-</a:t>
              </a:r>
            </a:p>
            <a:p>
              <a:pPr algn="ctr"/>
              <a:r>
                <a:rPr lang="de-DE" sz="1400">
                  <a:solidFill>
                    <a:schemeClr val="bg1">
                      <a:lumMod val="95000"/>
                    </a:schemeClr>
                  </a:solidFill>
                </a:rPr>
                <a:t>arbeitsplätze</a:t>
              </a:r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C0EEE603-8D8A-4075-BD1F-F7CE0BFA822B}"/>
                </a:ext>
              </a:extLst>
            </p:cNvPr>
            <p:cNvSpPr txBox="1"/>
            <p:nvPr/>
          </p:nvSpPr>
          <p:spPr>
            <a:xfrm>
              <a:off x="4779712" y="3631865"/>
              <a:ext cx="1819729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Kontrollierte Daten-</a:t>
              </a:r>
            </a:p>
            <a:p>
              <a:pPr algn="ctr"/>
              <a:r>
                <a:rPr lang="de-DE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fernverarbeitung</a:t>
              </a:r>
            </a:p>
          </p:txBody>
        </p: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F6C0A713-5AA4-476F-B72D-882F8FD6D7BB}"/>
                </a:ext>
              </a:extLst>
            </p:cNvPr>
            <p:cNvSpPr txBox="1"/>
            <p:nvPr/>
          </p:nvSpPr>
          <p:spPr>
            <a:xfrm>
              <a:off x="4704372" y="2501727"/>
              <a:ext cx="1970410" cy="40011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tatis Sans" panose="020B0503050000020004" pitchFamily="34" charset="0"/>
                  <a:ea typeface="+mj-ea"/>
                  <a:cs typeface="+mj-cs"/>
                </a:rPr>
                <a:t>On-Site</a:t>
              </a:r>
            </a:p>
          </p:txBody>
        </p:sp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0DA81B0C-3E6B-4304-9B51-56D7C1703B1F}"/>
                </a:ext>
              </a:extLst>
            </p:cNvPr>
            <p:cNvGrpSpPr/>
            <p:nvPr/>
          </p:nvGrpSpPr>
          <p:grpSpPr>
            <a:xfrm>
              <a:off x="4703364" y="4255350"/>
              <a:ext cx="1966361" cy="656686"/>
              <a:chOff x="4725569" y="4171352"/>
              <a:chExt cx="1966361" cy="656686"/>
            </a:xfrm>
          </p:grpSpPr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50659FD4-D26B-4960-A768-C70C7817FA20}"/>
                  </a:ext>
                </a:extLst>
              </p:cNvPr>
              <p:cNvSpPr txBox="1"/>
              <p:nvPr/>
            </p:nvSpPr>
            <p:spPr>
              <a:xfrm>
                <a:off x="4725569" y="4171352"/>
                <a:ext cx="1966361" cy="40011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atis Sans" panose="020B0503050000020004" pitchFamily="34" charset="0"/>
                    <a:ea typeface="+mj-ea"/>
                    <a:cs typeface="+mj-cs"/>
                  </a:rPr>
                  <a:t>Remote Access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29A6C966-9471-4062-BE99-2841A004412C}"/>
                  </a:ext>
                </a:extLst>
              </p:cNvPr>
              <p:cNvSpPr txBox="1"/>
              <p:nvPr/>
            </p:nvSpPr>
            <p:spPr>
              <a:xfrm>
                <a:off x="4725569" y="4551039"/>
                <a:ext cx="1966360" cy="276999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Neu seit Anfang 2025</a:t>
                </a:r>
              </a:p>
            </p:txBody>
          </p:sp>
        </p:grpSp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A4CD08BF-508D-4462-8F3A-96E1498331D1}"/>
                </a:ext>
              </a:extLst>
            </p:cNvPr>
            <p:cNvGrpSpPr/>
            <p:nvPr/>
          </p:nvGrpSpPr>
          <p:grpSpPr>
            <a:xfrm>
              <a:off x="4704976" y="4985611"/>
              <a:ext cx="1970410" cy="1046441"/>
              <a:chOff x="4691371" y="4928861"/>
              <a:chExt cx="1970410" cy="1046441"/>
            </a:xfrm>
          </p:grpSpPr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9AEEAC3F-7CA1-450B-BE1D-5D5D66C10356}"/>
                  </a:ext>
                </a:extLst>
              </p:cNvPr>
              <p:cNvSpPr txBox="1"/>
              <p:nvPr/>
            </p:nvSpPr>
            <p:spPr>
              <a:xfrm>
                <a:off x="4691371" y="4928861"/>
                <a:ext cx="1970410" cy="40011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atis Sans" panose="020B0503050000020004" pitchFamily="34" charset="0"/>
                    <a:ea typeface="+mj-ea"/>
                    <a:cs typeface="+mj-cs"/>
                  </a:rPr>
                  <a:t>Off-Site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86907B48-264B-4214-884A-D1B3F8D98D5C}"/>
                  </a:ext>
                </a:extLst>
              </p:cNvPr>
              <p:cNvSpPr txBox="1"/>
              <p:nvPr/>
            </p:nvSpPr>
            <p:spPr>
              <a:xfrm>
                <a:off x="4691371" y="5328971"/>
                <a:ext cx="1970410" cy="646331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Scientific Use Files,</a:t>
                </a:r>
              </a:p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Public Use Files,</a:t>
                </a:r>
              </a:p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Campus Files</a:t>
                </a:r>
              </a:p>
            </p:txBody>
          </p:sp>
        </p:grp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C3B491CE-2145-49D0-8B96-1B2DF447C5AA}"/>
              </a:ext>
            </a:extLst>
          </p:cNvPr>
          <p:cNvSpPr txBox="1"/>
          <p:nvPr/>
        </p:nvSpPr>
        <p:spPr>
          <a:xfrm>
            <a:off x="794745" y="1719071"/>
            <a:ext cx="3435596" cy="461665"/>
          </a:xfrm>
          <a:prstGeom prst="rect">
            <a:avLst/>
          </a:prstGeom>
          <a:solidFill>
            <a:srgbClr val="490B8D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Bisherige Infrastruktur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E1CC5C1-CF63-4CA9-A15E-1CADA495B271}"/>
              </a:ext>
            </a:extLst>
          </p:cNvPr>
          <p:cNvSpPr txBox="1"/>
          <p:nvPr/>
        </p:nvSpPr>
        <p:spPr>
          <a:xfrm>
            <a:off x="7636714" y="1703917"/>
            <a:ext cx="4326647" cy="830997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  <a:ea typeface="+mj-ea"/>
                <a:cs typeface="+mj-cs"/>
              </a:rPr>
              <a:t>On-Site Server </a:t>
            </a:r>
            <a:r>
              <a:rPr lang="de-DE" b="1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</a:rPr>
              <a:t>(FDZ exklusiv) </a:t>
            </a:r>
            <a:endParaRPr lang="de-DE" b="1">
              <a:solidFill>
                <a:schemeClr val="tx1">
                  <a:lumMod val="75000"/>
                  <a:lumOff val="25000"/>
                </a:schemeClr>
              </a:solidFill>
              <a:latin typeface="Statis Sans" panose="020B0503050000020004" pitchFamily="34" charset="0"/>
              <a:ea typeface="+mj-ea"/>
              <a:cs typeface="+mj-cs"/>
            </a:endParaRPr>
          </a:p>
          <a:p>
            <a:pPr algn="ctr"/>
            <a:r>
              <a:rPr lang="de-DE" b="1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  <a:ea typeface="+mj-ea"/>
                <a:cs typeface="+mj-cs"/>
              </a:rPr>
              <a:t> 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F9AC24AE-4075-445D-B8C0-816CC8F330F1}"/>
              </a:ext>
            </a:extLst>
          </p:cNvPr>
          <p:cNvSpPr txBox="1"/>
          <p:nvPr/>
        </p:nvSpPr>
        <p:spPr>
          <a:xfrm>
            <a:off x="7549016" y="2111741"/>
            <a:ext cx="4502042" cy="446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300" b="1" dirty="0">
                <a:solidFill>
                  <a:schemeClr val="accent2"/>
                </a:solidFill>
              </a:rPr>
              <a:t>Zugang für Wissenschaft 11/25</a:t>
            </a:r>
          </a:p>
        </p:txBody>
      </p:sp>
      <p:grpSp>
        <p:nvGrpSpPr>
          <p:cNvPr id="1025" name="Gruppieren 1024">
            <a:extLst>
              <a:ext uri="{FF2B5EF4-FFF2-40B4-BE49-F238E27FC236}">
                <a16:creationId xmlns:a16="http://schemas.microsoft.com/office/drawing/2014/main" id="{AF17EAED-2638-4D26-8F2B-388CFC4F393A}"/>
              </a:ext>
            </a:extLst>
          </p:cNvPr>
          <p:cNvGrpSpPr/>
          <p:nvPr/>
        </p:nvGrpSpPr>
        <p:grpSpPr>
          <a:xfrm>
            <a:off x="794745" y="3741163"/>
            <a:ext cx="3434565" cy="340780"/>
            <a:chOff x="1231784" y="3680782"/>
            <a:chExt cx="3434565" cy="340780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AB7EF38-25CA-4A77-8204-4FE5CFD090FF}"/>
                </a:ext>
              </a:extLst>
            </p:cNvPr>
            <p:cNvGrpSpPr/>
            <p:nvPr/>
          </p:nvGrpSpPr>
          <p:grpSpPr>
            <a:xfrm>
              <a:off x="2974956" y="3683008"/>
              <a:ext cx="1691393" cy="338554"/>
              <a:chOff x="12684524" y="4241253"/>
              <a:chExt cx="1887693" cy="338554"/>
            </a:xfrm>
          </p:grpSpPr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1F240D0-57A0-473A-9C67-7EF91F3AFD14}"/>
                  </a:ext>
                </a:extLst>
              </p:cNvPr>
              <p:cNvSpPr txBox="1"/>
              <p:nvPr/>
            </p:nvSpPr>
            <p:spPr>
              <a:xfrm>
                <a:off x="12684524" y="4241253"/>
                <a:ext cx="1887693" cy="3385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600" b="1">
                    <a:solidFill>
                      <a:schemeClr val="bg2">
                        <a:lumMod val="50000"/>
                      </a:schemeClr>
                    </a:solidFill>
                    <a:latin typeface="Statis Sans" panose="020B0503050000020004" pitchFamily="34" charset="0"/>
                    <a:ea typeface="+mj-ea"/>
                    <a:cs typeface="+mj-cs"/>
                  </a:rPr>
                  <a:t>SAS Server</a:t>
                </a:r>
              </a:p>
            </p:txBody>
          </p:sp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71E4BE49-3521-4665-A46A-E40CC537D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71424" y="4287859"/>
                <a:ext cx="252703" cy="252704"/>
              </a:xfrm>
              <a:prstGeom prst="rect">
                <a:avLst/>
              </a:prstGeom>
            </p:spPr>
          </p:pic>
        </p:grpSp>
        <p:sp>
          <p:nvSpPr>
            <p:cNvPr id="1024" name="Textfeld 1023">
              <a:extLst>
                <a:ext uri="{FF2B5EF4-FFF2-40B4-BE49-F238E27FC236}">
                  <a16:creationId xmlns:a16="http://schemas.microsoft.com/office/drawing/2014/main" id="{DA5F9583-63AB-4B04-933C-85EBD0D3404C}"/>
                </a:ext>
              </a:extLst>
            </p:cNvPr>
            <p:cNvSpPr txBox="1"/>
            <p:nvPr/>
          </p:nvSpPr>
          <p:spPr>
            <a:xfrm>
              <a:off x="1231784" y="3680782"/>
              <a:ext cx="1743173" cy="33855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/>
                <a:t>Datenpool</a:t>
              </a:r>
              <a:endParaRPr lang="de-DE" sz="1800" b="1"/>
            </a:p>
          </p:txBody>
        </p:sp>
      </p:grpSp>
      <p:pic>
        <p:nvPicPr>
          <p:cNvPr id="99" name="Grafik 98">
            <a:extLst>
              <a:ext uri="{FF2B5EF4-FFF2-40B4-BE49-F238E27FC236}">
                <a16:creationId xmlns:a16="http://schemas.microsoft.com/office/drawing/2014/main" id="{86944D4E-DDB7-4A39-BC1B-0F61889A8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04" y="4305695"/>
            <a:ext cx="288029" cy="223223"/>
          </a:xfrm>
          <a:prstGeom prst="rect">
            <a:avLst/>
          </a:prstGeom>
        </p:spPr>
      </p:pic>
      <p:graphicFrame>
        <p:nvGraphicFramePr>
          <p:cNvPr id="101" name="Tabelle 100">
            <a:extLst>
              <a:ext uri="{FF2B5EF4-FFF2-40B4-BE49-F238E27FC236}">
                <a16:creationId xmlns:a16="http://schemas.microsoft.com/office/drawing/2014/main" id="{592BBAAB-3C21-4E60-AC8E-BA0F62F5F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271801"/>
              </p:ext>
            </p:extLst>
          </p:nvPr>
        </p:nvGraphicFramePr>
        <p:xfrm>
          <a:off x="801373" y="5707358"/>
          <a:ext cx="3430722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82312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2748410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767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16, &lt;12 pro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sp>
        <p:nvSpPr>
          <p:cNvPr id="103" name="Eckige Klammer links 102">
            <a:extLst>
              <a:ext uri="{FF2B5EF4-FFF2-40B4-BE49-F238E27FC236}">
                <a16:creationId xmlns:a16="http://schemas.microsoft.com/office/drawing/2014/main" id="{3E9D17EB-8288-46C3-ABFF-607AB1BE294C}"/>
              </a:ext>
            </a:extLst>
          </p:cNvPr>
          <p:cNvSpPr/>
          <p:nvPr/>
        </p:nvSpPr>
        <p:spPr>
          <a:xfrm>
            <a:off x="680201" y="5260624"/>
            <a:ext cx="124868" cy="1073122"/>
          </a:xfrm>
          <a:prstGeom prst="leftBracket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2852191-4B4E-4C2C-B973-616663975C6B}"/>
              </a:ext>
            </a:extLst>
          </p:cNvPr>
          <p:cNvSpPr txBox="1"/>
          <p:nvPr/>
        </p:nvSpPr>
        <p:spPr>
          <a:xfrm rot="16200000">
            <a:off x="-60854" y="5662463"/>
            <a:ext cx="1163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solidFill>
                  <a:srgbClr val="FFC000"/>
                </a:solidFill>
                <a:latin typeface="Statis Sans" panose="020B0503050000020004" pitchFamily="34" charset="0"/>
              </a:rPr>
              <a:t>FDZ exklusiv</a:t>
            </a:r>
          </a:p>
        </p:txBody>
      </p:sp>
      <p:sp>
        <p:nvSpPr>
          <p:cNvPr id="1034" name="Geschweifte Klammer rechts 1033">
            <a:extLst>
              <a:ext uri="{FF2B5EF4-FFF2-40B4-BE49-F238E27FC236}">
                <a16:creationId xmlns:a16="http://schemas.microsoft.com/office/drawing/2014/main" id="{EB0CA5AD-891B-4B94-9F28-65D7C5054BBB}"/>
              </a:ext>
            </a:extLst>
          </p:cNvPr>
          <p:cNvSpPr/>
          <p:nvPr/>
        </p:nvSpPr>
        <p:spPr>
          <a:xfrm>
            <a:off x="4478829" y="2283131"/>
            <a:ext cx="195890" cy="1891332"/>
          </a:xfrm>
          <a:prstGeom prst="rightBrace">
            <a:avLst>
              <a:gd name="adj1" fmla="val 8333"/>
              <a:gd name="adj2" fmla="val 67404"/>
            </a:avLst>
          </a:prstGeom>
          <a:ln w="28575">
            <a:solidFill>
              <a:srgbClr val="490B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16" name="Geschweifte Klammer rechts 115">
            <a:extLst>
              <a:ext uri="{FF2B5EF4-FFF2-40B4-BE49-F238E27FC236}">
                <a16:creationId xmlns:a16="http://schemas.microsoft.com/office/drawing/2014/main" id="{D59000E7-EB24-4BF5-83AA-25165619F6D8}"/>
              </a:ext>
            </a:extLst>
          </p:cNvPr>
          <p:cNvSpPr/>
          <p:nvPr/>
        </p:nvSpPr>
        <p:spPr>
          <a:xfrm>
            <a:off x="4327097" y="2276504"/>
            <a:ext cx="195890" cy="4003789"/>
          </a:xfrm>
          <a:prstGeom prst="rightBrace">
            <a:avLst>
              <a:gd name="adj1" fmla="val 8333"/>
              <a:gd name="adj2" fmla="val 48401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cxnSp>
        <p:nvCxnSpPr>
          <p:cNvPr id="1038" name="Gerade Verbindung mit Pfeil 1037">
            <a:extLst>
              <a:ext uri="{FF2B5EF4-FFF2-40B4-BE49-F238E27FC236}">
                <a16:creationId xmlns:a16="http://schemas.microsoft.com/office/drawing/2014/main" id="{5BF8DACC-55FD-45A9-9A78-EB519068ACEC}"/>
              </a:ext>
            </a:extLst>
          </p:cNvPr>
          <p:cNvCxnSpPr>
            <a:cxnSpLocks/>
            <a:stCxn id="116" idx="1"/>
            <a:endCxn id="82" idx="1"/>
          </p:cNvCxnSpPr>
          <p:nvPr/>
        </p:nvCxnSpPr>
        <p:spPr>
          <a:xfrm>
            <a:off x="4522987" y="4214378"/>
            <a:ext cx="652721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Gerade Verbindung mit Pfeil 1039">
            <a:extLst>
              <a:ext uri="{FF2B5EF4-FFF2-40B4-BE49-F238E27FC236}">
                <a16:creationId xmlns:a16="http://schemas.microsoft.com/office/drawing/2014/main" id="{102774F0-C384-47E0-BBBE-AAF4C7CFDDDD}"/>
              </a:ext>
            </a:extLst>
          </p:cNvPr>
          <p:cNvCxnSpPr>
            <a:stCxn id="1034" idx="1"/>
            <a:endCxn id="79" idx="1"/>
          </p:cNvCxnSpPr>
          <p:nvPr/>
        </p:nvCxnSpPr>
        <p:spPr>
          <a:xfrm>
            <a:off x="4674719" y="3557964"/>
            <a:ext cx="497958" cy="8"/>
          </a:xfrm>
          <a:prstGeom prst="straightConnector1">
            <a:avLst/>
          </a:prstGeom>
          <a:ln w="28575">
            <a:solidFill>
              <a:srgbClr val="490B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>
            <a:extLst>
              <a:ext uri="{FF2B5EF4-FFF2-40B4-BE49-F238E27FC236}">
                <a16:creationId xmlns:a16="http://schemas.microsoft.com/office/drawing/2014/main" id="{D1A20FAA-7D12-4FB9-AF63-AC3CC36E281A}"/>
              </a:ext>
            </a:extLst>
          </p:cNvPr>
          <p:cNvSpPr txBox="1"/>
          <p:nvPr/>
        </p:nvSpPr>
        <p:spPr>
          <a:xfrm>
            <a:off x="7785519" y="2759619"/>
            <a:ext cx="2625137" cy="369332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solidFill>
              <a:srgbClr val="516E99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Server (6 Stück)</a:t>
            </a:r>
          </a:p>
        </p:txBody>
      </p:sp>
      <p:graphicFrame>
        <p:nvGraphicFramePr>
          <p:cNvPr id="133" name="Tabelle 132">
            <a:extLst>
              <a:ext uri="{FF2B5EF4-FFF2-40B4-BE49-F238E27FC236}">
                <a16:creationId xmlns:a16="http://schemas.microsoft.com/office/drawing/2014/main" id="{EBB2086F-58E2-4AB4-A4D4-CE2EC99DE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1888"/>
              </p:ext>
            </p:extLst>
          </p:nvPr>
        </p:nvGraphicFramePr>
        <p:xfrm>
          <a:off x="7784558" y="3129685"/>
          <a:ext cx="2621561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53122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1968439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3 TB (512 GB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96 (16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pic>
        <p:nvPicPr>
          <p:cNvPr id="134" name="Grafik 133">
            <a:extLst>
              <a:ext uri="{FF2B5EF4-FFF2-40B4-BE49-F238E27FC236}">
                <a16:creationId xmlns:a16="http://schemas.microsoft.com/office/drawing/2014/main" id="{D3F302FC-D8E6-470C-B6CE-FE6D623ED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25" y="2802691"/>
            <a:ext cx="288029" cy="223223"/>
          </a:xfrm>
          <a:prstGeom prst="rect">
            <a:avLst/>
          </a:prstGeom>
        </p:spPr>
      </p:pic>
      <p:sp>
        <p:nvSpPr>
          <p:cNvPr id="136" name="Textfeld 135">
            <a:extLst>
              <a:ext uri="{FF2B5EF4-FFF2-40B4-BE49-F238E27FC236}">
                <a16:creationId xmlns:a16="http://schemas.microsoft.com/office/drawing/2014/main" id="{D184A467-73AD-4FBD-AAE4-A7743C01ED1F}"/>
              </a:ext>
            </a:extLst>
          </p:cNvPr>
          <p:cNvSpPr txBox="1"/>
          <p:nvPr/>
        </p:nvSpPr>
        <p:spPr>
          <a:xfrm>
            <a:off x="7792145" y="3789995"/>
            <a:ext cx="2628563" cy="369332"/>
          </a:xfrm>
          <a:prstGeom prst="rect">
            <a:avLst/>
          </a:prstGeom>
          <a:solidFill>
            <a:srgbClr val="145C6C"/>
          </a:solidFill>
          <a:ln>
            <a:solidFill>
              <a:srgbClr val="145C6C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     </a:t>
            </a:r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Server (3 Stück)</a:t>
            </a:r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A37C03CC-04D4-497E-887B-01B0329EC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731" y="3846152"/>
            <a:ext cx="747147" cy="242823"/>
          </a:xfrm>
          <a:prstGeom prst="rect">
            <a:avLst/>
          </a:prstGeom>
        </p:spPr>
      </p:pic>
      <p:graphicFrame>
        <p:nvGraphicFramePr>
          <p:cNvPr id="138" name="Tabelle 137">
            <a:extLst>
              <a:ext uri="{FF2B5EF4-FFF2-40B4-BE49-F238E27FC236}">
                <a16:creationId xmlns:a16="http://schemas.microsoft.com/office/drawing/2014/main" id="{C6A70AE0-4BC1-45A0-85C8-057ACCD9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26139"/>
              </p:ext>
            </p:extLst>
          </p:nvPr>
        </p:nvGraphicFramePr>
        <p:xfrm>
          <a:off x="7792146" y="4160061"/>
          <a:ext cx="2628563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44806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1983757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1,5 TB (512 GB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48 (16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sp>
        <p:nvSpPr>
          <p:cNvPr id="139" name="Geschweifte Klammer rechts 138">
            <a:extLst>
              <a:ext uri="{FF2B5EF4-FFF2-40B4-BE49-F238E27FC236}">
                <a16:creationId xmlns:a16="http://schemas.microsoft.com/office/drawing/2014/main" id="{B993C9AE-1B82-4890-9445-0E27E0AC3795}"/>
              </a:ext>
            </a:extLst>
          </p:cNvPr>
          <p:cNvSpPr/>
          <p:nvPr/>
        </p:nvSpPr>
        <p:spPr>
          <a:xfrm>
            <a:off x="7114894" y="3268712"/>
            <a:ext cx="211622" cy="1260206"/>
          </a:xfrm>
          <a:prstGeom prst="rightBrace">
            <a:avLst>
              <a:gd name="adj1" fmla="val 8333"/>
              <a:gd name="adj2" fmla="val 67404"/>
            </a:avLst>
          </a:prstGeom>
          <a:noFill/>
          <a:ln w="28575">
            <a:solidFill>
              <a:srgbClr val="533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40" name="Geschweifte Klammer rechts 139">
            <a:extLst>
              <a:ext uri="{FF2B5EF4-FFF2-40B4-BE49-F238E27FC236}">
                <a16:creationId xmlns:a16="http://schemas.microsoft.com/office/drawing/2014/main" id="{CEA2E78F-FE68-4B49-B823-824E83350395}"/>
              </a:ext>
            </a:extLst>
          </p:cNvPr>
          <p:cNvSpPr/>
          <p:nvPr/>
        </p:nvSpPr>
        <p:spPr>
          <a:xfrm rot="10800000">
            <a:off x="7452661" y="2759605"/>
            <a:ext cx="255984" cy="1949096"/>
          </a:xfrm>
          <a:prstGeom prst="rightBrace">
            <a:avLst>
              <a:gd name="adj1" fmla="val 8333"/>
              <a:gd name="adj2" fmla="val 30309"/>
            </a:avLst>
          </a:prstGeom>
          <a:noFill/>
          <a:ln w="28575">
            <a:solidFill>
              <a:srgbClr val="533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1C134D47-B293-48BB-98B6-F1F9D7FC808C}"/>
              </a:ext>
            </a:extLst>
          </p:cNvPr>
          <p:cNvSpPr txBox="1"/>
          <p:nvPr/>
        </p:nvSpPr>
        <p:spPr>
          <a:xfrm>
            <a:off x="8038375" y="4890781"/>
            <a:ext cx="2250229" cy="646331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800" b="1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FDZ-Datenpool</a:t>
            </a:r>
          </a:p>
          <a:p>
            <a:pPr algn="ctr"/>
            <a:r>
              <a:rPr lang="de-DE" sz="1800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(Netzwerkspeicher)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0CFFB87B-AF27-4CFF-9FB6-83F6E8B7C8FF}"/>
              </a:ext>
            </a:extLst>
          </p:cNvPr>
          <p:cNvSpPr txBox="1"/>
          <p:nvPr/>
        </p:nvSpPr>
        <p:spPr>
          <a:xfrm>
            <a:off x="8033944" y="5648250"/>
            <a:ext cx="2251615" cy="646331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Nutzerverwaltung </a:t>
            </a:r>
            <a:r>
              <a:rPr lang="de-DE" sz="1800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(</a:t>
            </a:r>
            <a:r>
              <a:rPr lang="de-DE" sz="1800" dirty="0" err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Active</a:t>
            </a:r>
            <a:r>
              <a:rPr lang="de-DE" sz="1800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Directory)</a:t>
            </a:r>
          </a:p>
        </p:txBody>
      </p:sp>
      <p:grpSp>
        <p:nvGrpSpPr>
          <p:cNvPr id="1055" name="Gruppieren 1054">
            <a:extLst>
              <a:ext uri="{FF2B5EF4-FFF2-40B4-BE49-F238E27FC236}">
                <a16:creationId xmlns:a16="http://schemas.microsoft.com/office/drawing/2014/main" id="{3B148840-0370-4FCD-9D0A-BF82DFC12237}"/>
              </a:ext>
            </a:extLst>
          </p:cNvPr>
          <p:cNvGrpSpPr/>
          <p:nvPr/>
        </p:nvGrpSpPr>
        <p:grpSpPr>
          <a:xfrm>
            <a:off x="10394361" y="2872384"/>
            <a:ext cx="1789907" cy="3358854"/>
            <a:chOff x="10394361" y="2872384"/>
            <a:chExt cx="1789907" cy="3358854"/>
          </a:xfrm>
        </p:grpSpPr>
        <p:sp>
          <p:nvSpPr>
            <p:cNvPr id="147" name="Stern: 5 Zacken 146">
              <a:extLst>
                <a:ext uri="{FF2B5EF4-FFF2-40B4-BE49-F238E27FC236}">
                  <a16:creationId xmlns:a16="http://schemas.microsoft.com/office/drawing/2014/main" id="{003E9CC5-5342-4B3A-9298-D42F43F886AE}"/>
                </a:ext>
              </a:extLst>
            </p:cNvPr>
            <p:cNvSpPr/>
            <p:nvPr/>
          </p:nvSpPr>
          <p:spPr>
            <a:xfrm>
              <a:off x="10394361" y="4695399"/>
              <a:ext cx="1777851" cy="1535839"/>
            </a:xfrm>
            <a:prstGeom prst="star5">
              <a:avLst/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sp>
          <p:nvSpPr>
            <p:cNvPr id="1053" name="Stern: 5 Zacken 1052">
              <a:extLst>
                <a:ext uri="{FF2B5EF4-FFF2-40B4-BE49-F238E27FC236}">
                  <a16:creationId xmlns:a16="http://schemas.microsoft.com/office/drawing/2014/main" id="{22BA98AA-AD69-4B34-AEA1-99A2991BB5EF}"/>
                </a:ext>
              </a:extLst>
            </p:cNvPr>
            <p:cNvSpPr/>
            <p:nvPr/>
          </p:nvSpPr>
          <p:spPr>
            <a:xfrm>
              <a:off x="10406417" y="2872384"/>
              <a:ext cx="1777851" cy="1535839"/>
            </a:xfrm>
            <a:prstGeom prst="star5">
              <a:avLst/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sp>
          <p:nvSpPr>
            <p:cNvPr id="1052" name="Textfeld 1051">
              <a:extLst>
                <a:ext uri="{FF2B5EF4-FFF2-40B4-BE49-F238E27FC236}">
                  <a16:creationId xmlns:a16="http://schemas.microsoft.com/office/drawing/2014/main" id="{3C86FAB6-BA2A-403B-BED9-AB856807FF4F}"/>
                </a:ext>
              </a:extLst>
            </p:cNvPr>
            <p:cNvSpPr txBox="1"/>
            <p:nvPr/>
          </p:nvSpPr>
          <p:spPr>
            <a:xfrm>
              <a:off x="10486442" y="2912880"/>
              <a:ext cx="163530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Exklusive und </a:t>
              </a:r>
              <a:r>
                <a:rPr lang="de-DE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große Kapazitäten </a:t>
              </a:r>
              <a:r>
                <a:rPr lang="de-DE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einheitlich für jede On-Site Nutzung</a:t>
              </a:r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9AB8637C-AA68-4656-9C98-2E201C584CC2}"/>
                </a:ext>
              </a:extLst>
            </p:cNvPr>
            <p:cNvSpPr txBox="1"/>
            <p:nvPr/>
          </p:nvSpPr>
          <p:spPr>
            <a:xfrm>
              <a:off x="10494700" y="5250223"/>
              <a:ext cx="16012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600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</a:lstStyle>
            <a:p>
              <a:pPr algn="ctr"/>
              <a:r>
                <a:rPr lang="de-DE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Effiziente FDZ-Betreuung</a:t>
              </a:r>
            </a:p>
          </p:txBody>
        </p:sp>
      </p:grpSp>
      <p:sp>
        <p:nvSpPr>
          <p:cNvPr id="3" name="Rechteck 2">
            <a:extLst>
              <a:ext uri="{FF2B5EF4-FFF2-40B4-BE49-F238E27FC236}">
                <a16:creationId xmlns:a16="http://schemas.microsoft.com/office/drawing/2014/main" id="{CCFBF604-7236-47A1-B77E-C419D63EF3BE}"/>
              </a:ext>
            </a:extLst>
          </p:cNvPr>
          <p:cNvSpPr/>
          <p:nvPr/>
        </p:nvSpPr>
        <p:spPr>
          <a:xfrm>
            <a:off x="191144" y="1615440"/>
            <a:ext cx="4594971" cy="4948742"/>
          </a:xfrm>
          <a:prstGeom prst="rect">
            <a:avLst/>
          </a:prstGeom>
          <a:solidFill>
            <a:srgbClr val="490B8D">
              <a:alpha val="36078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6366804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0" grpId="0" animBg="1"/>
      <p:bldP spid="41" grpId="0"/>
      <p:bldP spid="93" grpId="0" animBg="1"/>
      <p:bldP spid="94" grpId="0" animBg="1"/>
      <p:bldP spid="92" grpId="0"/>
      <p:bldP spid="103" grpId="0" animBg="1"/>
      <p:bldP spid="104" grpId="0"/>
      <p:bldP spid="1034" grpId="0" animBg="1"/>
      <p:bldP spid="116" grpId="0" animBg="1"/>
      <p:bldP spid="132" grpId="0" animBg="1"/>
      <p:bldP spid="136" grpId="0" animBg="1"/>
      <p:bldP spid="139" grpId="0" animBg="1"/>
      <p:bldP spid="140" grpId="0" animBg="1"/>
      <p:bldP spid="141" grpId="0" animBg="1"/>
      <p:bldP spid="1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E4A51AB-4B73-405C-9A26-014485E995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071EB5-3764-40D8-AC7B-ABCEAB5370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sz="8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7AF6E74-837A-4EBE-B3FE-5AF6DF76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1144188"/>
            <a:ext cx="11075147" cy="549619"/>
          </a:xfrm>
        </p:spPr>
        <p:txBody>
          <a:bodyPr/>
          <a:lstStyle/>
          <a:p>
            <a:r>
              <a:rPr lang="de-DE" sz="3200" dirty="0"/>
              <a:t>Technischer Ansatz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00D2E7-5663-4583-873E-1BD821F0E8A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z="900" smtClean="0">
                <a:latin typeface="Statis Sans Light" panose="020B0403050000020004" pitchFamily="34" charset="0"/>
              </a:rPr>
              <a:t>13.11.2025</a:t>
            </a:fld>
            <a:endParaRPr lang="de-DE" sz="900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5AF2C2-D73E-4484-9E66-296E091EDE9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 sz="1100" dirty="0"/>
              <a:t>Statistisches </a:t>
            </a:r>
            <a:r>
              <a:rPr lang="en-GB" sz="1100" dirty="0" err="1"/>
              <a:t>Bundesamt</a:t>
            </a:r>
            <a:r>
              <a:rPr lang="en-GB" sz="1100" dirty="0"/>
              <a:t> (Destatis)</a:t>
            </a:r>
            <a:endParaRPr lang="en-GB" sz="1100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9761AF-0587-4496-AE36-7E75676527C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z="900" smtClean="0"/>
              <a:pPr/>
              <a:t>4</a:t>
            </a:fld>
            <a:endParaRPr lang="de-DE" sz="900" dirty="0">
              <a:latin typeface="Statis Sans Light" panose="020B0403050000020004" pitchFamily="34" charset="0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C01C714-4814-4915-9AD3-F98078AC4A47}"/>
              </a:ext>
            </a:extLst>
          </p:cNvPr>
          <p:cNvGrpSpPr/>
          <p:nvPr/>
        </p:nvGrpSpPr>
        <p:grpSpPr>
          <a:xfrm>
            <a:off x="728156" y="2238070"/>
            <a:ext cx="4291289" cy="3475988"/>
            <a:chOff x="743649" y="2084589"/>
            <a:chExt cx="4291289" cy="3475988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C1E617FD-2022-41FE-8CF2-07A06E130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878" y="2084589"/>
              <a:ext cx="3075292" cy="627071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78FDE35-ED42-4304-BA0A-6BB1A86CD620}"/>
                </a:ext>
              </a:extLst>
            </p:cNvPr>
            <p:cNvSpPr txBox="1"/>
            <p:nvPr/>
          </p:nvSpPr>
          <p:spPr>
            <a:xfrm>
              <a:off x="743649" y="3006032"/>
              <a:ext cx="4291289" cy="255454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tx2"/>
                  </a:solidFill>
                </a:rPr>
                <a:t>{</a:t>
              </a:r>
              <a:r>
                <a:rPr lang="de-DE" sz="2000" b="1" dirty="0" err="1">
                  <a:solidFill>
                    <a:schemeClr val="tx2"/>
                  </a:solidFill>
                </a:rPr>
                <a:t>Parquet</a:t>
              </a:r>
              <a:r>
                <a:rPr lang="de-DE" sz="2000" b="1" dirty="0">
                  <a:solidFill>
                    <a:schemeClr val="tx2"/>
                  </a:solidFill>
                </a:rPr>
                <a:t>} </a:t>
              </a:r>
              <a:r>
                <a:rPr lang="de-DE" sz="2000" dirty="0">
                  <a:solidFill>
                    <a:schemeClr val="tx2"/>
                  </a:solidFill>
                </a:rPr>
                <a:t>Speicherformat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Effizient lesbar und schreibbar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Spaltenbasiert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Standardmäßig komprimiert</a:t>
              </a:r>
            </a:p>
            <a:p>
              <a:endParaRPr lang="de-DE" sz="1000" dirty="0">
                <a:solidFill>
                  <a:schemeClr val="tx2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Ermöglicht aufgeteilte</a:t>
              </a:r>
              <a:br>
                <a:rPr lang="de-DE" sz="2000" dirty="0">
                  <a:solidFill>
                    <a:schemeClr val="tx2"/>
                  </a:solidFill>
                </a:rPr>
              </a:br>
              <a:r>
                <a:rPr lang="de-DE" sz="2000" dirty="0">
                  <a:solidFill>
                    <a:schemeClr val="tx2"/>
                  </a:solidFill>
                </a:rPr>
                <a:t>Speicherung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019D45A-7F85-4A36-BE74-984B105EFA95}"/>
              </a:ext>
            </a:extLst>
          </p:cNvPr>
          <p:cNvGrpSpPr/>
          <p:nvPr/>
        </p:nvGrpSpPr>
        <p:grpSpPr>
          <a:xfrm>
            <a:off x="6399850" y="823894"/>
            <a:ext cx="5380780" cy="822111"/>
            <a:chOff x="6399850" y="823894"/>
            <a:chExt cx="5380780" cy="822111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A9AD9364-8C01-48AC-AF19-90AD0DE92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9850" y="823894"/>
              <a:ext cx="1060788" cy="822111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84F11645-80FD-465D-ACC7-F7F860DFFF65}"/>
                </a:ext>
              </a:extLst>
            </p:cNvPr>
            <p:cNvSpPr txBox="1"/>
            <p:nvPr/>
          </p:nvSpPr>
          <p:spPr>
            <a:xfrm>
              <a:off x="7360920" y="1234950"/>
              <a:ext cx="4419710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800" b="1" dirty="0">
                  <a:solidFill>
                    <a:schemeClr val="tx2"/>
                  </a:solidFill>
                </a:rPr>
                <a:t>R bietet die Mittel für Effizienzgewinne!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5716529-CB8A-4C4A-8E41-E0C9195C890C}"/>
              </a:ext>
            </a:extLst>
          </p:cNvPr>
          <p:cNvGrpSpPr/>
          <p:nvPr/>
        </p:nvGrpSpPr>
        <p:grpSpPr>
          <a:xfrm>
            <a:off x="5019445" y="2097448"/>
            <a:ext cx="3984855" cy="3673903"/>
            <a:chOff x="4686927" y="2084589"/>
            <a:chExt cx="4341174" cy="3673903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89941E8F-0D60-42D4-BFBC-56C3A02A2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44186" y="2084589"/>
              <a:ext cx="766377" cy="883722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94720C6-F529-4289-B2A9-BA1A2EA0001E}"/>
                </a:ext>
              </a:extLst>
            </p:cNvPr>
            <p:cNvSpPr txBox="1"/>
            <p:nvPr/>
          </p:nvSpPr>
          <p:spPr>
            <a:xfrm>
              <a:off x="4686927" y="3203947"/>
              <a:ext cx="4341174" cy="255454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tx2"/>
                  </a:solidFill>
                </a:rPr>
                <a:t>{</a:t>
              </a:r>
              <a:r>
                <a:rPr lang="de-DE" sz="2000" b="1" dirty="0" err="1">
                  <a:solidFill>
                    <a:schemeClr val="tx2"/>
                  </a:solidFill>
                </a:rPr>
                <a:t>arrow</a:t>
              </a:r>
              <a:r>
                <a:rPr lang="de-DE" sz="2000" b="1" dirty="0">
                  <a:solidFill>
                    <a:schemeClr val="tx2"/>
                  </a:solidFill>
                </a:rPr>
                <a:t>}</a:t>
              </a:r>
              <a:r>
                <a:rPr lang="de-DE" sz="2000" dirty="0">
                  <a:solidFill>
                    <a:schemeClr val="tx2"/>
                  </a:solidFill>
                </a:rPr>
                <a:t> R-Package</a:t>
              </a:r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r>
                <a:rPr lang="de-DE" sz="1000" b="1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Nutzung von Daten außerhalb des Arbeitsspeichers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 err="1">
                  <a:solidFill>
                    <a:schemeClr val="tx2"/>
                  </a:solidFill>
                </a:rPr>
                <a:t>Lazy</a:t>
              </a:r>
              <a:r>
                <a:rPr lang="de-DE" sz="2000" dirty="0">
                  <a:solidFill>
                    <a:schemeClr val="tx2"/>
                  </a:solidFill>
                </a:rPr>
                <a:t> </a:t>
              </a:r>
              <a:r>
                <a:rPr lang="de-DE" sz="2000" dirty="0" err="1">
                  <a:solidFill>
                    <a:schemeClr val="tx2"/>
                  </a:solidFill>
                </a:rPr>
                <a:t>Computation</a:t>
              </a:r>
              <a:endParaRPr lang="de-DE" sz="2000" dirty="0">
                <a:solidFill>
                  <a:schemeClr val="tx2"/>
                </a:solidFill>
              </a:endParaRP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Parallelisierung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Gewohnte R-Syntax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A2C0D0A-5C9A-40F1-A1B0-62BC5968C007}"/>
              </a:ext>
            </a:extLst>
          </p:cNvPr>
          <p:cNvGrpSpPr/>
          <p:nvPr/>
        </p:nvGrpSpPr>
        <p:grpSpPr>
          <a:xfrm>
            <a:off x="9253784" y="2097448"/>
            <a:ext cx="2680108" cy="3724176"/>
            <a:chOff x="9253784" y="2097448"/>
            <a:chExt cx="2680108" cy="3724176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E1A327F5-5178-4F0B-8274-615D7B2EF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79676" y="3187484"/>
              <a:ext cx="703474" cy="810588"/>
            </a:xfrm>
            <a:prstGeom prst="rect">
              <a:avLst/>
            </a:prstGeom>
          </p:spPr>
        </p:pic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295F7DFD-80F2-4796-ABFD-C31EF319B978}"/>
                </a:ext>
              </a:extLst>
            </p:cNvPr>
            <p:cNvGrpSpPr/>
            <p:nvPr/>
          </p:nvGrpSpPr>
          <p:grpSpPr>
            <a:xfrm>
              <a:off x="9253784" y="2097448"/>
              <a:ext cx="2680108" cy="864582"/>
              <a:chOff x="9706763" y="2824349"/>
              <a:chExt cx="2680108" cy="864582"/>
            </a:xfrm>
          </p:grpSpPr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BFB9DB37-F0DE-41A8-A97D-E22F375FE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32655" y="2824349"/>
                <a:ext cx="1279324" cy="363709"/>
              </a:xfrm>
              <a:prstGeom prst="rect">
                <a:avLst/>
              </a:prstGeom>
            </p:spPr>
          </p:pic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E7F55BC-631C-4011-81AD-679FE130BF9E}"/>
                  </a:ext>
                </a:extLst>
              </p:cNvPr>
              <p:cNvSpPr txBox="1"/>
              <p:nvPr/>
            </p:nvSpPr>
            <p:spPr>
              <a:xfrm>
                <a:off x="9706763" y="2827157"/>
                <a:ext cx="2680108" cy="861774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2000" dirty="0">
                    <a:solidFill>
                      <a:schemeClr val="tx2"/>
                    </a:solidFill>
                  </a:rPr>
                  <a:t>                       ergänzt</a:t>
                </a:r>
              </a:p>
              <a:p>
                <a:pPr algn="l"/>
                <a:r>
                  <a:rPr lang="de-DE" sz="1000" dirty="0">
                    <a:solidFill>
                      <a:schemeClr val="tx2"/>
                    </a:solidFill>
                  </a:rPr>
                  <a:t> </a:t>
                </a:r>
              </a:p>
              <a:p>
                <a:pPr algn="l"/>
                <a:r>
                  <a:rPr lang="de-DE" sz="2000" dirty="0">
                    <a:solidFill>
                      <a:schemeClr val="tx2"/>
                    </a:solidFill>
                  </a:rPr>
                  <a:t>Features von {</a:t>
                </a:r>
                <a:r>
                  <a:rPr lang="de-DE" sz="2000" dirty="0" err="1">
                    <a:solidFill>
                      <a:schemeClr val="tx2"/>
                    </a:solidFill>
                  </a:rPr>
                  <a:t>arrow</a:t>
                </a:r>
                <a:r>
                  <a:rPr lang="de-DE" sz="2000" dirty="0">
                    <a:solidFill>
                      <a:schemeClr val="tx2"/>
                    </a:solidFill>
                  </a:rPr>
                  <a:t>}.</a:t>
                </a:r>
              </a:p>
            </p:txBody>
          </p:sp>
        </p:grp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8614846-14C0-4C8A-95E3-EEC2104EF067}"/>
                </a:ext>
              </a:extLst>
            </p:cNvPr>
            <p:cNvSpPr txBox="1"/>
            <p:nvPr/>
          </p:nvSpPr>
          <p:spPr>
            <a:xfrm>
              <a:off x="9616478" y="3700995"/>
              <a:ext cx="2085043" cy="101566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2000" dirty="0">
                  <a:solidFill>
                    <a:schemeClr val="tx2"/>
                  </a:solidFill>
                </a:rPr>
                <a:t>        </a:t>
              </a:r>
              <a:r>
                <a:rPr lang="de-DE" sz="2000" b="1" dirty="0">
                  <a:solidFill>
                    <a:schemeClr val="tx2"/>
                  </a:solidFill>
                </a:rPr>
                <a:t>{</a:t>
              </a:r>
              <a:r>
                <a:rPr lang="de-DE" sz="2000" b="1" dirty="0" err="1">
                  <a:solidFill>
                    <a:schemeClr val="tx2"/>
                  </a:solidFill>
                </a:rPr>
                <a:t>data.table</a:t>
              </a:r>
              <a:r>
                <a:rPr lang="de-DE" sz="2000" b="1" dirty="0">
                  <a:solidFill>
                    <a:schemeClr val="tx2"/>
                  </a:solidFill>
                </a:rPr>
                <a:t>} </a:t>
              </a:r>
              <a:r>
                <a:rPr lang="de-DE" sz="2000" dirty="0">
                  <a:solidFill>
                    <a:schemeClr val="tx2"/>
                  </a:solidFill>
                </a:rPr>
                <a:t>kann in-memory effizienter sein.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7F7C28E6-62CE-4B9E-A60D-E641B5986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4685" y="4937902"/>
              <a:ext cx="762414" cy="883722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C60B037A-A1EA-4A34-A6AE-97F1AFDEF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34975" y="4941792"/>
              <a:ext cx="762414" cy="879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00891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E0095-275F-4AEC-9855-4D5FC0F67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DE" sz="13800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41769202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eck 63">
            <a:extLst>
              <a:ext uri="{FF2B5EF4-FFF2-40B4-BE49-F238E27FC236}">
                <a16:creationId xmlns:a16="http://schemas.microsoft.com/office/drawing/2014/main" id="{24551596-66C5-4AAD-9A49-1D4BBF616ABF}"/>
              </a:ext>
            </a:extLst>
          </p:cNvPr>
          <p:cNvSpPr/>
          <p:nvPr/>
        </p:nvSpPr>
        <p:spPr>
          <a:xfrm>
            <a:off x="6091077" y="1793929"/>
            <a:ext cx="5674068" cy="4094899"/>
          </a:xfrm>
          <a:prstGeom prst="rect">
            <a:avLst/>
          </a:prstGeom>
          <a:solidFill>
            <a:srgbClr val="FFCC00">
              <a:alpha val="80000"/>
            </a:srgb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u="sng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96D7BB4-8AC5-4206-BFEB-0957538103F9}"/>
              </a:ext>
            </a:extLst>
          </p:cNvPr>
          <p:cNvSpPr/>
          <p:nvPr/>
        </p:nvSpPr>
        <p:spPr>
          <a:xfrm>
            <a:off x="740049" y="1793929"/>
            <a:ext cx="5351459" cy="4094899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u="sng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8EAD3D4-7D17-442A-B459-788190CF9B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FB4E52-BA5C-458A-802D-F8A104324F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7B8B4D-94C3-474B-9E21-4154AE83D79C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9516742" y="6300663"/>
            <a:ext cx="1501778" cy="263521"/>
          </a:xfrm>
        </p:spPr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F789DA-6534-4349-998D-F43F3E2E651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B631D9-6D17-4642-BC40-99F1D607B14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087099" y="6300663"/>
            <a:ext cx="687235" cy="263521"/>
          </a:xfrm>
        </p:spPr>
        <p:txBody>
          <a:bodyPr/>
          <a:lstStyle/>
          <a:p>
            <a:fld id="{490D50AA-A47B-42B3-AEBF-DBC41AAA668C}" type="slidenum">
              <a:rPr lang="de-DE" smtClean="0"/>
              <a:pPr/>
              <a:t>6</a:t>
            </a:fld>
            <a:endParaRPr lang="de-DE" dirty="0">
              <a:latin typeface="Statis Sans Light" panose="020B0403050000020004" pitchFamily="34" charset="0"/>
            </a:endParaRP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B5EEB17-4665-4E53-8967-DE08721B0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03483"/>
              </p:ext>
            </p:extLst>
          </p:nvPr>
        </p:nvGraphicFramePr>
        <p:xfrm>
          <a:off x="2928993" y="3024204"/>
          <a:ext cx="2594147" cy="215823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164">
                  <a:extLst>
                    <a:ext uri="{9D8B030D-6E8A-4147-A177-3AD203B41FA5}">
                      <a16:colId xmlns:a16="http://schemas.microsoft.com/office/drawing/2014/main" val="2436626088"/>
                    </a:ext>
                  </a:extLst>
                </a:gridCol>
                <a:gridCol w="759983">
                  <a:extLst>
                    <a:ext uri="{9D8B030D-6E8A-4147-A177-3AD203B41FA5}">
                      <a16:colId xmlns:a16="http://schemas.microsoft.com/office/drawing/2014/main" val="2280721582"/>
                    </a:ext>
                  </a:extLst>
                </a:gridCol>
              </a:tblGrid>
              <a:tr h="308319"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2013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39,1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272530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2014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38,5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2116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2015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40,5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25577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2016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42,1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60893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2017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46,3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22726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2018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45,7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16905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2019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48,5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059614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DF553D2B-26C4-4B0B-9B85-86529A43FA54}"/>
              </a:ext>
            </a:extLst>
          </p:cNvPr>
          <p:cNvSpPr txBox="1"/>
          <p:nvPr/>
        </p:nvSpPr>
        <p:spPr>
          <a:xfrm>
            <a:off x="3752662" y="5300630"/>
            <a:ext cx="1002197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bg1"/>
                </a:solidFill>
              </a:rPr>
              <a:t>301 GB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0FC14B0-A616-41FD-8327-243FB2BBA769}"/>
              </a:ext>
            </a:extLst>
          </p:cNvPr>
          <p:cNvSpPr txBox="1"/>
          <p:nvPr/>
        </p:nvSpPr>
        <p:spPr>
          <a:xfrm>
            <a:off x="6212724" y="1898492"/>
            <a:ext cx="543077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tx2"/>
                </a:solidFill>
              </a:rPr>
              <a:t>Vorschlag eines neuen </a:t>
            </a:r>
            <a:r>
              <a:rPr lang="de-DE" b="1" dirty="0" err="1">
                <a:solidFill>
                  <a:schemeClr val="tx2"/>
                </a:solidFill>
              </a:rPr>
              <a:t>Dateformats</a:t>
            </a:r>
            <a:endParaRPr lang="de-DE" b="1" dirty="0">
              <a:solidFill>
                <a:schemeClr val="tx2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ED8D1C0-7AA6-44FF-92DE-EEA489C80BEA}"/>
              </a:ext>
            </a:extLst>
          </p:cNvPr>
          <p:cNvSpPr txBox="1"/>
          <p:nvPr/>
        </p:nvSpPr>
        <p:spPr>
          <a:xfrm>
            <a:off x="9392663" y="3027859"/>
            <a:ext cx="2381671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2"/>
                </a:solidFill>
              </a:rPr>
              <a:t>Effizient auswertbar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B038B4D-F284-4F15-87B8-6C5034647B3C}"/>
              </a:ext>
            </a:extLst>
          </p:cNvPr>
          <p:cNvSpPr txBox="1"/>
          <p:nvPr/>
        </p:nvSpPr>
        <p:spPr>
          <a:xfrm>
            <a:off x="9647391" y="3712542"/>
            <a:ext cx="1858923" cy="90024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de-DE" sz="1050" dirty="0" err="1"/>
              <a:t>Schema_btp</a:t>
            </a:r>
            <a:r>
              <a:rPr lang="de-DE" sz="1050" dirty="0"/>
              <a:t> &lt;- </a:t>
            </a:r>
            <a:r>
              <a:rPr lang="de-DE" sz="1050" dirty="0" err="1"/>
              <a:t>schema</a:t>
            </a:r>
            <a:r>
              <a:rPr lang="de-DE" sz="1050" dirty="0"/>
              <a:t>(</a:t>
            </a:r>
          </a:p>
          <a:p>
            <a:pPr algn="l"/>
            <a:r>
              <a:rPr lang="de-DE" sz="1050" dirty="0"/>
              <a:t>     </a:t>
            </a:r>
            <a:r>
              <a:rPr lang="de-DE" sz="1050" dirty="0" err="1"/>
              <a:t>stat</a:t>
            </a:r>
            <a:r>
              <a:rPr lang="de-DE" sz="1050" dirty="0"/>
              <a:t> = utf8(),</a:t>
            </a:r>
          </a:p>
          <a:p>
            <a:pPr algn="l"/>
            <a:r>
              <a:rPr lang="de-DE" sz="1050" dirty="0"/>
              <a:t>     Jahr = int32(),</a:t>
            </a:r>
          </a:p>
          <a:p>
            <a:pPr algn="l"/>
            <a:r>
              <a:rPr lang="de-DE" sz="1050" dirty="0"/>
              <a:t>     g_k2119 = int64(),</a:t>
            </a:r>
          </a:p>
          <a:p>
            <a:pPr algn="l"/>
            <a:r>
              <a:rPr lang="de-DE" sz="1050" dirty="0"/>
              <a:t>     …)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22FA2FE-8661-4AA7-A5DF-DB5E21999289}"/>
              </a:ext>
            </a:extLst>
          </p:cNvPr>
          <p:cNvSpPr txBox="1"/>
          <p:nvPr/>
        </p:nvSpPr>
        <p:spPr>
          <a:xfrm>
            <a:off x="10069133" y="3343210"/>
            <a:ext cx="10149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sz="1800" b="1" dirty="0">
                <a:solidFill>
                  <a:schemeClr val="tx2"/>
                </a:solidFill>
              </a:rPr>
              <a:t>Schema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71AE36A-1C29-4967-8726-DB08EF2A6406}"/>
              </a:ext>
            </a:extLst>
          </p:cNvPr>
          <p:cNvSpPr txBox="1"/>
          <p:nvPr/>
        </p:nvSpPr>
        <p:spPr>
          <a:xfrm>
            <a:off x="9541814" y="4687646"/>
            <a:ext cx="2134893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solidFill>
                  <a:schemeClr val="tx2"/>
                </a:solidFill>
              </a:rPr>
              <a:t>Sorgt beim Einlesen für </a:t>
            </a:r>
          </a:p>
          <a:p>
            <a:pPr algn="l"/>
            <a:r>
              <a:rPr lang="de-DE" sz="1400" dirty="0">
                <a:solidFill>
                  <a:schemeClr val="tx2"/>
                </a:solidFill>
              </a:rPr>
              <a:t>Stabilität &amp; Konsistenz</a:t>
            </a:r>
          </a:p>
        </p:txBody>
      </p:sp>
      <p:sp>
        <p:nvSpPr>
          <p:cNvPr id="31" name="Titel 3">
            <a:extLst>
              <a:ext uri="{FF2B5EF4-FFF2-40B4-BE49-F238E27FC236}">
                <a16:creationId xmlns:a16="http://schemas.microsoft.com/office/drawing/2014/main" id="{AD2D84B4-D2B1-4021-B0F0-778B52909FC0}"/>
              </a:ext>
            </a:extLst>
          </p:cNvPr>
          <p:cNvSpPr txBox="1">
            <a:spLocks/>
          </p:cNvSpPr>
          <p:nvPr/>
        </p:nvSpPr>
        <p:spPr>
          <a:xfrm>
            <a:off x="710452" y="1118925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Sachstand – Vorbereitung der Speicherstruktur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7DA8FB4-AE95-41CC-8727-F95ABFA40A9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523140" y="4103320"/>
            <a:ext cx="1136305" cy="16673"/>
          </a:xfrm>
          <a:prstGeom prst="straightConnector1">
            <a:avLst/>
          </a:prstGeom>
          <a:ln w="63500">
            <a:gradFill flip="none" rotWithShape="1">
              <a:gsLst>
                <a:gs pos="59000">
                  <a:srgbClr val="824361"/>
                </a:gs>
                <a:gs pos="85858">
                  <a:srgbClr val="632579"/>
                </a:gs>
                <a:gs pos="24775">
                  <a:srgbClr val="D29323"/>
                </a:gs>
                <a:gs pos="15000">
                  <a:srgbClr val="FFFF00"/>
                </a:gs>
                <a:gs pos="0">
                  <a:srgbClr val="FFFF00"/>
                </a:gs>
                <a:gs pos="100000">
                  <a:srgbClr val="490B8D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B1934999-E27A-4BE4-BD40-781692DC2DD6}"/>
              </a:ext>
            </a:extLst>
          </p:cNvPr>
          <p:cNvSpPr txBox="1"/>
          <p:nvPr/>
        </p:nvSpPr>
        <p:spPr>
          <a:xfrm>
            <a:off x="7478088" y="2518183"/>
            <a:ext cx="373371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1800" b="1" dirty="0" err="1">
                <a:solidFill>
                  <a:schemeClr val="tx2"/>
                </a:solidFill>
              </a:rPr>
              <a:t>Parquet</a:t>
            </a:r>
            <a:r>
              <a:rPr lang="de-DE" sz="1800" b="1" dirty="0">
                <a:solidFill>
                  <a:schemeClr val="tx2"/>
                </a:solidFill>
              </a:rPr>
              <a:t>-Ordnerstruktur (17,5 GB)</a:t>
            </a:r>
            <a:endParaRPr lang="de-DE" sz="2300" b="1" dirty="0">
              <a:solidFill>
                <a:schemeClr val="tx2"/>
              </a:solidFill>
            </a:endParaRP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F09D771-47B2-423B-9DF6-24A8BA546F6E}"/>
              </a:ext>
            </a:extLst>
          </p:cNvPr>
          <p:cNvSpPr txBox="1"/>
          <p:nvPr/>
        </p:nvSpPr>
        <p:spPr>
          <a:xfrm>
            <a:off x="1643270" y="1898492"/>
            <a:ext cx="354501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300" b="1" dirty="0">
                <a:solidFill>
                  <a:schemeClr val="bg1"/>
                </a:solidFill>
              </a:rPr>
              <a:t>Bisheriges Datenhaltung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170A15A6-F781-4458-8CAC-B65D0B12574A}"/>
              </a:ext>
            </a:extLst>
          </p:cNvPr>
          <p:cNvSpPr txBox="1"/>
          <p:nvPr/>
        </p:nvSpPr>
        <p:spPr>
          <a:xfrm>
            <a:off x="1069908" y="2650953"/>
            <a:ext cx="122882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1800" b="1" dirty="0" err="1">
                <a:solidFill>
                  <a:schemeClr val="bg1"/>
                </a:solidFill>
              </a:rPr>
              <a:t>Stata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85818FA7-09DB-4E2D-8DFC-23E019A79A4A}"/>
              </a:ext>
            </a:extLst>
          </p:cNvPr>
          <p:cNvSpPr txBox="1"/>
          <p:nvPr/>
        </p:nvSpPr>
        <p:spPr>
          <a:xfrm>
            <a:off x="1133848" y="2998248"/>
            <a:ext cx="1401346" cy="64633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1800" dirty="0" err="1">
                <a:solidFill>
                  <a:schemeClr val="bg1"/>
                </a:solidFill>
              </a:rPr>
              <a:t>btp_fdz.dta</a:t>
            </a:r>
            <a:endParaRPr lang="de-DE" sz="1800" dirty="0">
              <a:solidFill>
                <a:schemeClr val="bg1"/>
              </a:solidFill>
            </a:endParaRPr>
          </a:p>
          <a:p>
            <a:pPr algn="l"/>
            <a:r>
              <a:rPr lang="de-DE" sz="1800" dirty="0">
                <a:solidFill>
                  <a:schemeClr val="bg1"/>
                </a:solidFill>
              </a:rPr>
              <a:t>ca. 610 GB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C147A100-AA62-4EFA-8030-AC6A66037AB6}"/>
              </a:ext>
            </a:extLst>
          </p:cNvPr>
          <p:cNvSpPr txBox="1"/>
          <p:nvPr/>
        </p:nvSpPr>
        <p:spPr>
          <a:xfrm>
            <a:off x="3611656" y="2595776"/>
            <a:ext cx="122882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1800" b="1" dirty="0">
                <a:solidFill>
                  <a:schemeClr val="bg1"/>
                </a:solidFill>
              </a:rPr>
              <a:t>SAS</a:t>
            </a:r>
            <a:endParaRPr lang="de-DE" b="1" dirty="0">
              <a:solidFill>
                <a:schemeClr val="bg1"/>
              </a:solidFill>
            </a:endParaRPr>
          </a:p>
        </p:txBody>
      </p:sp>
      <p:graphicFrame>
        <p:nvGraphicFramePr>
          <p:cNvPr id="43" name="Tabelle 42">
            <a:extLst>
              <a:ext uri="{FF2B5EF4-FFF2-40B4-BE49-F238E27FC236}">
                <a16:creationId xmlns:a16="http://schemas.microsoft.com/office/drawing/2014/main" id="{E9DEE393-D63B-4897-9E07-2186624DE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828415"/>
              </p:ext>
            </p:extLst>
          </p:nvPr>
        </p:nvGraphicFramePr>
        <p:xfrm>
          <a:off x="6657824" y="3021213"/>
          <a:ext cx="2594147" cy="215823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164">
                  <a:extLst>
                    <a:ext uri="{9D8B030D-6E8A-4147-A177-3AD203B41FA5}">
                      <a16:colId xmlns:a16="http://schemas.microsoft.com/office/drawing/2014/main" val="2436626088"/>
                    </a:ext>
                  </a:extLst>
                </a:gridCol>
                <a:gridCol w="759983">
                  <a:extLst>
                    <a:ext uri="{9D8B030D-6E8A-4147-A177-3AD203B41FA5}">
                      <a16:colId xmlns:a16="http://schemas.microsoft.com/office/drawing/2014/main" val="2280721582"/>
                    </a:ext>
                  </a:extLst>
                </a:gridCol>
              </a:tblGrid>
              <a:tr h="308319"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2013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2,07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272530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2014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2,29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2116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2015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2,41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25577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2016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2,48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60893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2017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2,72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22726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2018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2,78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16905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2019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parquet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2,75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05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6998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11" grpId="0" animBg="1"/>
      <p:bldP spid="10" grpId="0"/>
      <p:bldP spid="46" grpId="0"/>
      <p:bldP spid="7" grpId="0"/>
      <p:bldP spid="29" grpId="0" animBg="1"/>
      <p:bldP spid="8" grpId="0"/>
      <p:bldP spid="17" grpId="0"/>
      <p:bldP spid="65" grpId="0"/>
      <p:bldP spid="57" grpId="0"/>
      <p:bldP spid="66" grpId="0"/>
      <p:bldP spid="67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75BE1BD-2586-4634-9F2E-F4455C5834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6F8C40-3204-41C7-B167-8EFDEA7A22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545C58-284F-4A7C-B544-6BFC18953B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3FBE03-63CE-4F02-9C46-D38CAA11333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26AE5-54FD-44F1-9FD3-CD27DADF92B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7</a:t>
            </a:fld>
            <a:endParaRPr lang="de-DE" dirty="0">
              <a:latin typeface="Statis Sans Light" panose="020B0403050000020004" pitchFamily="34" charset="0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6ADFFDF-6F7D-478D-ACA5-AD99C50760B9}"/>
              </a:ext>
            </a:extLst>
          </p:cNvPr>
          <p:cNvGrpSpPr/>
          <p:nvPr/>
        </p:nvGrpSpPr>
        <p:grpSpPr>
          <a:xfrm>
            <a:off x="2234672" y="-380587"/>
            <a:ext cx="10407628" cy="6454650"/>
            <a:chOff x="2225147" y="-111041"/>
            <a:chExt cx="10407628" cy="6454650"/>
          </a:xfrm>
        </p:grpSpPr>
        <p:sp>
          <p:nvSpPr>
            <p:cNvPr id="16" name="Gleichschenkliges Dreieck 15">
              <a:extLst>
                <a:ext uri="{FF2B5EF4-FFF2-40B4-BE49-F238E27FC236}">
                  <a16:creationId xmlns:a16="http://schemas.microsoft.com/office/drawing/2014/main" id="{0F3F2A33-5F79-49C0-AB00-38F72CF0BCBC}"/>
                </a:ext>
              </a:extLst>
            </p:cNvPr>
            <p:cNvSpPr/>
            <p:nvPr/>
          </p:nvSpPr>
          <p:spPr>
            <a:xfrm rot="494005">
              <a:off x="2225147" y="-111041"/>
              <a:ext cx="10407628" cy="5546761"/>
            </a:xfrm>
            <a:prstGeom prst="triangle">
              <a:avLst>
                <a:gd name="adj" fmla="val 92608"/>
              </a:avLst>
            </a:prstGeom>
            <a:solidFill>
              <a:srgbClr val="FFCC00">
                <a:alpha val="8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012E0823-2CE4-49BF-80E6-EC2587C0C3EE}"/>
                </a:ext>
              </a:extLst>
            </p:cNvPr>
            <p:cNvGrpSpPr/>
            <p:nvPr/>
          </p:nvGrpSpPr>
          <p:grpSpPr>
            <a:xfrm>
              <a:off x="4249523" y="1579727"/>
              <a:ext cx="4010031" cy="4763882"/>
              <a:chOff x="4249523" y="1579727"/>
              <a:chExt cx="4010031" cy="4763882"/>
            </a:xfrm>
          </p:grpSpPr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6EDDB2E-9BB4-41F2-9C1C-4575DE97A3FD}"/>
                  </a:ext>
                </a:extLst>
              </p:cNvPr>
              <p:cNvSpPr txBox="1"/>
              <p:nvPr/>
            </p:nvSpPr>
            <p:spPr>
              <a:xfrm>
                <a:off x="4249523" y="1579727"/>
                <a:ext cx="4010031" cy="1238801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sz="2300" b="1" dirty="0">
                    <a:solidFill>
                      <a:schemeClr val="tx2"/>
                    </a:solidFill>
                  </a:rPr>
                  <a:t>Ergebnis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tx2"/>
                    </a:solidFill>
                  </a:rPr>
                  <a:t>Schnell (~ 2 sec.)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tx2"/>
                    </a:solidFill>
                  </a:rPr>
                  <a:t>Ressourcenarm (&lt; 4 GB RAM)</a:t>
                </a:r>
              </a:p>
            </p:txBody>
          </p:sp>
          <p:pic>
            <p:nvPicPr>
              <p:cNvPr id="21" name="Grafik 20">
                <a:extLst>
                  <a:ext uri="{FF2B5EF4-FFF2-40B4-BE49-F238E27FC236}">
                    <a16:creationId xmlns:a16="http://schemas.microsoft.com/office/drawing/2014/main" id="{5D61FD56-CA99-469D-8317-CB3BEE6A5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5735" y="4578530"/>
                <a:ext cx="3719401" cy="176507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88828-F7E6-4C06-8D96-8C0958A48657}"/>
              </a:ext>
            </a:extLst>
          </p:cNvPr>
          <p:cNvGrpSpPr/>
          <p:nvPr/>
        </p:nvGrpSpPr>
        <p:grpSpPr>
          <a:xfrm>
            <a:off x="8425316" y="1631265"/>
            <a:ext cx="3800939" cy="4343546"/>
            <a:chOff x="8425316" y="1631265"/>
            <a:chExt cx="3800939" cy="4343546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D29CC2BE-C475-4C91-95FF-F20F6F4DA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5316" y="2475677"/>
              <a:ext cx="3684629" cy="213072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6A9A7F8-60DA-43F0-AE33-83D19967A4BA}"/>
                </a:ext>
              </a:extLst>
            </p:cNvPr>
            <p:cNvSpPr txBox="1"/>
            <p:nvPr/>
          </p:nvSpPr>
          <p:spPr>
            <a:xfrm>
              <a:off x="8707489" y="5266925"/>
              <a:ext cx="3518766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dirty="0">
                  <a:solidFill>
                    <a:schemeClr val="tx2"/>
                  </a:solidFill>
                </a:rPr>
                <a:t>Ausweitung der Kennzahlen (Mittelwerte, …)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120E742-98C3-4826-B517-579D9BBBAF7A}"/>
                </a:ext>
              </a:extLst>
            </p:cNvPr>
            <p:cNvSpPr txBox="1"/>
            <p:nvPr/>
          </p:nvSpPr>
          <p:spPr>
            <a:xfrm>
              <a:off x="8865168" y="2108123"/>
              <a:ext cx="3016765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solidFill>
                    <a:schemeClr val="tx2"/>
                  </a:solidFill>
                </a:rPr>
                <a:t>Visuelle Darstellungen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7D44C25E-C2A3-42BA-B455-89E61BA3E7BE}"/>
                </a:ext>
              </a:extLst>
            </p:cNvPr>
            <p:cNvSpPr txBox="1"/>
            <p:nvPr/>
          </p:nvSpPr>
          <p:spPr>
            <a:xfrm>
              <a:off x="9437568" y="1631265"/>
              <a:ext cx="1714500" cy="44627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300" b="1" dirty="0">
                  <a:solidFill>
                    <a:schemeClr val="tx2"/>
                  </a:solidFill>
                </a:rPr>
                <a:t>Potenzial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BF753D6-6C06-4AC6-B5B0-FD4548087E8A}"/>
                </a:ext>
              </a:extLst>
            </p:cNvPr>
            <p:cNvSpPr txBox="1"/>
            <p:nvPr/>
          </p:nvSpPr>
          <p:spPr>
            <a:xfrm>
              <a:off x="8614168" y="4781614"/>
              <a:ext cx="3518766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dirty="0">
                  <a:solidFill>
                    <a:schemeClr val="tx2"/>
                  </a:solidFill>
                </a:rPr>
                <a:t>Effiziente Aktualisierungen</a:t>
              </a:r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9C1F6B4A-F632-4340-9932-4A570B4352D5}"/>
              </a:ext>
            </a:extLst>
          </p:cNvPr>
          <p:cNvSpPr txBox="1"/>
          <p:nvPr/>
        </p:nvSpPr>
        <p:spPr>
          <a:xfrm>
            <a:off x="884919" y="1624876"/>
            <a:ext cx="3136592" cy="10374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2300" b="1" dirty="0">
                <a:solidFill>
                  <a:schemeClr val="tx2"/>
                </a:solidFill>
              </a:rPr>
              <a:t>Anwendung</a:t>
            </a:r>
          </a:p>
          <a:p>
            <a:pPr>
              <a:lnSpc>
                <a:spcPct val="150000"/>
              </a:lnSpc>
            </a:pPr>
            <a:r>
              <a:rPr lang="de-DE" sz="2000" dirty="0">
                <a:solidFill>
                  <a:schemeClr val="tx2"/>
                </a:solidFill>
              </a:rPr>
              <a:t>Einfach und übersichtlich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129EB4-BA03-46B4-9C0B-0A6BD0E3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Mehrwert für Datenbereitstellung (Fallzahlen)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5CE3863E-B339-4EE3-80CA-82AF9D978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419" y="2875546"/>
            <a:ext cx="2265592" cy="2482931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1F969F6-DCC2-48CB-806E-04EE574ED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204" y="2586647"/>
            <a:ext cx="3151511" cy="153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790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75BE1BD-2586-4634-9F2E-F4455C5834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6F8C40-3204-41C7-B167-8EFDEA7A22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129EB4-BA03-46B4-9C0B-0A6BD0E3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897326"/>
            <a:ext cx="11075147" cy="1043344"/>
          </a:xfrm>
        </p:spPr>
        <p:txBody>
          <a:bodyPr/>
          <a:lstStyle/>
          <a:p>
            <a:r>
              <a:rPr lang="de-DE" dirty="0"/>
              <a:t>Mehrwert für Datenbereitstellung </a:t>
            </a:r>
            <a:br>
              <a:rPr lang="de-DE" dirty="0"/>
            </a:br>
            <a:r>
              <a:rPr lang="de-DE" dirty="0"/>
              <a:t>(Numerische Kennzahlen)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545C58-284F-4A7C-B544-6BFC18953B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3FBE03-63CE-4F02-9C46-D38CAA11333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26AE5-54FD-44F1-9FD3-CD27DADF92B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8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0F3F2A33-5F79-49C0-AB00-38F72CF0BCBC}"/>
              </a:ext>
            </a:extLst>
          </p:cNvPr>
          <p:cNvSpPr/>
          <p:nvPr/>
        </p:nvSpPr>
        <p:spPr>
          <a:xfrm rot="494005">
            <a:off x="2225147" y="-111041"/>
            <a:ext cx="10407628" cy="5546761"/>
          </a:xfrm>
          <a:prstGeom prst="triangle">
            <a:avLst>
              <a:gd name="adj" fmla="val 92608"/>
            </a:avLst>
          </a:prstGeom>
          <a:solidFill>
            <a:srgbClr val="FFCC00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E96E6BD-837D-43CF-B695-E8CE7F6902B6}"/>
              </a:ext>
            </a:extLst>
          </p:cNvPr>
          <p:cNvSpPr txBox="1"/>
          <p:nvPr/>
        </p:nvSpPr>
        <p:spPr>
          <a:xfrm>
            <a:off x="9957491" y="1577366"/>
            <a:ext cx="2122058" cy="9310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de-DE" sz="2300" b="1" dirty="0">
                <a:solidFill>
                  <a:schemeClr val="tx2"/>
                </a:solidFill>
              </a:rPr>
              <a:t>Ergebnis</a:t>
            </a:r>
          </a:p>
          <a:p>
            <a:pPr algn="r"/>
            <a:r>
              <a:rPr lang="de-DE" sz="2000" dirty="0">
                <a:solidFill>
                  <a:schemeClr val="tx2"/>
                </a:solidFill>
              </a:rPr>
              <a:t>Schnell (&lt; 2 sec.)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2B2D76C-5007-43C2-9FBA-822412D60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1" y="1903360"/>
            <a:ext cx="3585777" cy="411723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AC45A43-02E4-4011-AB7B-F0810BF26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292" y="2926224"/>
            <a:ext cx="5526309" cy="2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5332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40523B3-29C7-436F-837B-BBC0B992DE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BB55D1-146C-4A3D-9420-C0D20C0A04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ADB2D8-F4A3-4A94-8743-E6B9DDDDAB8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ED8D8-5AE2-4485-B6B5-8D36986E79B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A2B259-CDD6-4088-BA83-B4E93474A3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9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8F198F81-4102-45A7-B520-0C256F41065C}"/>
              </a:ext>
            </a:extLst>
          </p:cNvPr>
          <p:cNvSpPr/>
          <p:nvPr/>
        </p:nvSpPr>
        <p:spPr>
          <a:xfrm rot="494005">
            <a:off x="2225147" y="-111041"/>
            <a:ext cx="10407628" cy="5546761"/>
          </a:xfrm>
          <a:prstGeom prst="triangle">
            <a:avLst>
              <a:gd name="adj" fmla="val 92608"/>
            </a:avLst>
          </a:prstGeom>
          <a:solidFill>
            <a:srgbClr val="FFCC00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6DFD029-E01E-40EC-AD1C-175AC9819A0F}"/>
              </a:ext>
            </a:extLst>
          </p:cNvPr>
          <p:cNvGrpSpPr/>
          <p:nvPr/>
        </p:nvGrpSpPr>
        <p:grpSpPr>
          <a:xfrm>
            <a:off x="690645" y="1741313"/>
            <a:ext cx="6730610" cy="4160892"/>
            <a:chOff x="690645" y="1741313"/>
            <a:chExt cx="6730610" cy="4160892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52606D63-0DFE-4CB3-80E6-1DAD51EECFE1}"/>
                </a:ext>
              </a:extLst>
            </p:cNvPr>
            <p:cNvSpPr txBox="1"/>
            <p:nvPr/>
          </p:nvSpPr>
          <p:spPr>
            <a:xfrm>
              <a:off x="690645" y="1741313"/>
              <a:ext cx="4296369" cy="9233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l"/>
              <a:r>
                <a:rPr lang="de-DE" b="1" dirty="0">
                  <a:solidFill>
                    <a:schemeClr val="tx2"/>
                  </a:solidFill>
                </a:rPr>
                <a:t>Minimaler Ressourcenbedarf </a:t>
              </a:r>
            </a:p>
            <a:p>
              <a:pPr algn="l"/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algn="l"/>
              <a:r>
                <a:rPr lang="de-DE" sz="2000" dirty="0">
                  <a:solidFill>
                    <a:schemeClr val="tx2"/>
                  </a:solidFill>
                </a:rPr>
                <a:t>(&lt; 2 sec., &lt; 700 MB RAM)</a:t>
              </a:r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7CE14726-B141-4AB4-AF37-649062A07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3919" y="2179213"/>
              <a:ext cx="2647336" cy="19373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B13CC00-9355-47A6-BAC6-110AB9D2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3919" y="4351363"/>
              <a:ext cx="2647336" cy="155084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A0FA5F6-5A3E-478C-B740-0120A36E18C7}"/>
              </a:ext>
            </a:extLst>
          </p:cNvPr>
          <p:cNvGrpSpPr/>
          <p:nvPr/>
        </p:nvGrpSpPr>
        <p:grpSpPr>
          <a:xfrm>
            <a:off x="8221527" y="1517146"/>
            <a:ext cx="3973648" cy="4743911"/>
            <a:chOff x="8271009" y="1253507"/>
            <a:chExt cx="3973648" cy="4743911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DD7E2C84-EC7A-424E-A8C4-30669FA1C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1009" y="1699783"/>
              <a:ext cx="3740882" cy="2659457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C117CE-D33E-4C3D-AA71-B0A0625C1668}"/>
                </a:ext>
              </a:extLst>
            </p:cNvPr>
            <p:cNvSpPr txBox="1"/>
            <p:nvPr/>
          </p:nvSpPr>
          <p:spPr>
            <a:xfrm>
              <a:off x="9304020" y="1253507"/>
              <a:ext cx="1714500" cy="44627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300" b="1" dirty="0">
                  <a:solidFill>
                    <a:schemeClr val="tx2"/>
                  </a:solidFill>
                </a:rPr>
                <a:t>Potenzial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ED573440-3783-4189-B4E2-1E594603DF80}"/>
                </a:ext>
              </a:extLst>
            </p:cNvPr>
            <p:cNvSpPr txBox="1"/>
            <p:nvPr/>
          </p:nvSpPr>
          <p:spPr>
            <a:xfrm>
              <a:off x="8787387" y="4493863"/>
              <a:ext cx="3457270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de-DE" sz="2000" dirty="0">
                  <a:solidFill>
                    <a:schemeClr val="tx2"/>
                  </a:solidFill>
                </a:rPr>
                <a:t>Ausweitung der Exploration, Analysen, Qualität, …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6735ADE7-FA71-49D3-B8D2-0054B83C4DDC}"/>
                </a:ext>
              </a:extLst>
            </p:cNvPr>
            <p:cNvSpPr txBox="1"/>
            <p:nvPr/>
          </p:nvSpPr>
          <p:spPr>
            <a:xfrm>
              <a:off x="9437568" y="5289532"/>
              <a:ext cx="2807089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solidFill>
                    <a:schemeClr val="tx2"/>
                  </a:solidFill>
                </a:rPr>
                <a:t>Optimale Nutzung der begrenzter Zugriffszeit</a:t>
              </a:r>
            </a:p>
          </p:txBody>
        </p: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1D2CF3B4-84E5-485C-9102-83C58A6AB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69" y="2868663"/>
            <a:ext cx="2819794" cy="2495898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39BF2404-453B-4AB2-B5CE-07A1F9BD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Mehrwert in Datenauswertung (Lorenzkurve)</a:t>
            </a:r>
          </a:p>
        </p:txBody>
      </p:sp>
    </p:spTree>
    <p:extLst>
      <p:ext uri="{BB962C8B-B14F-4D97-AF65-F5344CB8AC3E}">
        <p14:creationId xmlns:p14="http://schemas.microsoft.com/office/powerpoint/2010/main" val="3135714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lipse 18">
            <a:extLst>
              <a:ext uri="{FF2B5EF4-FFF2-40B4-BE49-F238E27FC236}">
                <a16:creationId xmlns:a16="http://schemas.microsoft.com/office/drawing/2014/main" id="{8FCB93B7-82F2-4ACC-B6BE-DB5C976F01F8}"/>
              </a:ext>
            </a:extLst>
          </p:cNvPr>
          <p:cNvSpPr/>
          <p:nvPr/>
        </p:nvSpPr>
        <p:spPr>
          <a:xfrm>
            <a:off x="83127" y="1574353"/>
            <a:ext cx="6568498" cy="4606188"/>
          </a:xfrm>
          <a:prstGeom prst="ellipse">
            <a:avLst/>
          </a:prstGeom>
          <a:solidFill>
            <a:srgbClr val="FFC000">
              <a:alpha val="9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6510D29-F218-4330-A7B2-E0D4021D89E0}"/>
              </a:ext>
            </a:extLst>
          </p:cNvPr>
          <p:cNvSpPr/>
          <p:nvPr/>
        </p:nvSpPr>
        <p:spPr>
          <a:xfrm>
            <a:off x="5543550" y="1515278"/>
            <a:ext cx="6568498" cy="4606188"/>
          </a:xfrm>
          <a:prstGeom prst="ellipse">
            <a:avLst/>
          </a:prstGeom>
          <a:solidFill>
            <a:srgbClr val="490B8D">
              <a:alpha val="9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7160CE-41A7-4490-854E-1D762C62C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31587C-C668-43EF-BDDA-0539A28782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AA64919-7F8F-40B3-8031-BD546746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1118925"/>
            <a:ext cx="11075147" cy="600146"/>
          </a:xfrm>
        </p:spPr>
        <p:txBody>
          <a:bodyPr/>
          <a:lstStyle/>
          <a:p>
            <a:r>
              <a:rPr lang="de-DE" dirty="0"/>
              <a:t>Weiteres Vorgehen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F75A2F-E997-405E-BDA5-4407B646FCCB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123E15C5-F997-45B8-852E-81902DB83842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4633A50-58EA-42EA-A2E8-BD5E6F41758F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52D7D8A-0487-4331-B20E-7C0DDFF89A1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10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B788701-E9BD-43DE-AA24-5967046F19F4}"/>
              </a:ext>
            </a:extLst>
          </p:cNvPr>
          <p:cNvSpPr/>
          <p:nvPr/>
        </p:nvSpPr>
        <p:spPr>
          <a:xfrm>
            <a:off x="6405638" y="1719070"/>
            <a:ext cx="5368696" cy="41778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04FF318-0887-43CB-960C-34960A171D21}"/>
              </a:ext>
            </a:extLst>
          </p:cNvPr>
          <p:cNvSpPr txBox="1"/>
          <p:nvPr/>
        </p:nvSpPr>
        <p:spPr>
          <a:xfrm>
            <a:off x="1913044" y="2012941"/>
            <a:ext cx="291574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tx2"/>
                </a:solidFill>
              </a:rPr>
              <a:t>Infrastruktur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ED7726-749E-46BB-98CE-ACF8FC6BB039}"/>
              </a:ext>
            </a:extLst>
          </p:cNvPr>
          <p:cNvSpPr txBox="1"/>
          <p:nvPr/>
        </p:nvSpPr>
        <p:spPr>
          <a:xfrm>
            <a:off x="7573872" y="1919573"/>
            <a:ext cx="275940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b="1" dirty="0">
                <a:solidFill>
                  <a:schemeClr val="bg1"/>
                </a:solidFill>
              </a:rPr>
              <a:t>Effiziente Nutzung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626DFBA-0877-45E8-976C-9C2893CA0BA1}"/>
              </a:ext>
            </a:extLst>
          </p:cNvPr>
          <p:cNvSpPr txBox="1"/>
          <p:nvPr/>
        </p:nvSpPr>
        <p:spPr>
          <a:xfrm>
            <a:off x="2113447" y="3257406"/>
            <a:ext cx="2507858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chemeClr val="tx2"/>
                </a:solidFill>
              </a:rPr>
              <a:t>Bereitstellung der FDZ On-Site Server!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1D7AB0F-69AD-4C5B-8730-73FD2C0FF29A}"/>
              </a:ext>
            </a:extLst>
          </p:cNvPr>
          <p:cNvSpPr txBox="1"/>
          <p:nvPr/>
        </p:nvSpPr>
        <p:spPr>
          <a:xfrm>
            <a:off x="6687925" y="3253697"/>
            <a:ext cx="453129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chemeClr val="bg1"/>
                </a:solidFill>
              </a:rPr>
              <a:t>Pilotierung in der empirischen Steuerforschung!</a:t>
            </a:r>
          </a:p>
        </p:txBody>
      </p:sp>
    </p:spTree>
    <p:extLst>
      <p:ext uri="{BB962C8B-B14F-4D97-AF65-F5344CB8AC3E}">
        <p14:creationId xmlns:p14="http://schemas.microsoft.com/office/powerpoint/2010/main" val="10624011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7B7DE65-3824-442C-BA91-B51924118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3B2E77-901E-4C93-B906-3DD218A46B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0DBB1F-94A7-47AC-983D-CA911DA99A8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13.11.2025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444FF0-E8DA-4049-A040-C4BD721C2C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C0AA6A-EAD7-4B29-98E1-D4F16A8C818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11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3A47E7B-CCC6-4F60-A4CC-731FDA0446DF}"/>
              </a:ext>
            </a:extLst>
          </p:cNvPr>
          <p:cNvSpPr/>
          <p:nvPr/>
        </p:nvSpPr>
        <p:spPr>
          <a:xfrm>
            <a:off x="628788" y="1851228"/>
            <a:ext cx="1093759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2"/>
              </a:rPr>
              <a:t>https://www.forschungsdatenzentrum.de/de/steuern/btp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3"/>
              </a:rPr>
              <a:t>https://parquet.apache.org/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4"/>
              </a:rPr>
              <a:t>https://arrow.apache.org/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5"/>
              </a:rPr>
              <a:t>https://arrow.apache.org/docs/r/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6"/>
              </a:rPr>
              <a:t>https://duckdb.org/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7"/>
              </a:rPr>
              <a:t>https://r4ds.hadley.nz/arrow#partitioning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8"/>
              </a:rPr>
              <a:t>https://arrow.apache.org/cookbook/r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9"/>
              </a:rPr>
              <a:t>https://github.com/thisisnic/awesome-arrow-r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10"/>
              </a:rPr>
              <a:t>https://confluence.prod.stba.in.bund.de/x/qY7FAg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11"/>
              </a:rPr>
              <a:t>https://arrow.apache.org/cookbook/r/manipulating-data---tables.html#use-dplyr-verbs-in-arrow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12"/>
              </a:rPr>
              <a:t>https://arrow.apache.org/docs/r/articles/dataset.html#batch-processing-experimental</a:t>
            </a:r>
            <a:endParaRPr lang="de-DE" sz="2000" dirty="0"/>
          </a:p>
        </p:txBody>
      </p:sp>
      <p:sp>
        <p:nvSpPr>
          <p:cNvPr id="9" name="Titel 5">
            <a:extLst>
              <a:ext uri="{FF2B5EF4-FFF2-40B4-BE49-F238E27FC236}">
                <a16:creationId xmlns:a16="http://schemas.microsoft.com/office/drawing/2014/main" id="{E521EE3C-DC7C-45AB-BD9A-A7CC9D8224AA}"/>
              </a:ext>
            </a:extLst>
          </p:cNvPr>
          <p:cNvSpPr txBox="1">
            <a:spLocks/>
          </p:cNvSpPr>
          <p:nvPr/>
        </p:nvSpPr>
        <p:spPr>
          <a:xfrm>
            <a:off x="710452" y="1118925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Weiterführende Literatur</a:t>
            </a:r>
          </a:p>
        </p:txBody>
      </p:sp>
    </p:spTree>
    <p:extLst>
      <p:ext uri="{BB962C8B-B14F-4D97-AF65-F5344CB8AC3E}">
        <p14:creationId xmlns:p14="http://schemas.microsoft.com/office/powerpoint/2010/main" val="24606675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CCC3D72B-D512-4559-8706-1D73DCCE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0389" y="861373"/>
            <a:ext cx="9975211" cy="1617401"/>
          </a:xfrm>
        </p:spPr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8939D16-2777-48C6-A21B-37277D82D4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27" y="2729990"/>
            <a:ext cx="3864741" cy="1160813"/>
          </a:xfrm>
        </p:spPr>
        <p:txBody>
          <a:bodyPr/>
          <a:lstStyle/>
          <a:p>
            <a:r>
              <a:rPr lang="de-DE" dirty="0"/>
              <a:t>Statistisches Bundesamt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07C1761-F894-4DA7-925E-0557A13EC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2419" y="2729991"/>
            <a:ext cx="3864741" cy="2658219"/>
          </a:xfrm>
        </p:spPr>
        <p:txBody>
          <a:bodyPr/>
          <a:lstStyle/>
          <a:p>
            <a:r>
              <a:rPr lang="de-DE" dirty="0"/>
              <a:t>Ansprechpartner</a:t>
            </a:r>
            <a:br>
              <a:rPr lang="de-DE" dirty="0"/>
            </a:br>
            <a:r>
              <a:rPr lang="de-DE" dirty="0"/>
              <a:t>Oliver Hauke</a:t>
            </a:r>
            <a:br>
              <a:rPr lang="de-DE" dirty="0"/>
            </a:br>
            <a:r>
              <a:rPr lang="de-DE" dirty="0">
                <a:hlinkClick r:id="rId2"/>
              </a:rPr>
              <a:t>oliver.hauke@destatis.de</a:t>
            </a:r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1694305-A723-40DC-A9D3-481DEFAC02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10389" y="3184117"/>
            <a:ext cx="3864741" cy="1196698"/>
          </a:xfrm>
        </p:spPr>
        <p:txBody>
          <a:bodyPr/>
          <a:lstStyle/>
          <a:p>
            <a:pPr lvl="0"/>
            <a:r>
              <a:rPr lang="de-DE" dirty="0"/>
              <a:t>www.destatis.de</a:t>
            </a:r>
          </a:p>
          <a:p>
            <a:pPr lvl="0"/>
            <a:r>
              <a:rPr lang="de-DE" dirty="0"/>
              <a:t>www.destatis.de/kontakt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58594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statis_PP_Master_16x9_deutsch_2018">
  <a:themeElements>
    <a:clrScheme name="Statis">
      <a:dk1>
        <a:srgbClr val="1E1E1E"/>
      </a:dk1>
      <a:lt1>
        <a:sysClr val="window" lastClr="FFFFFF"/>
      </a:lt1>
      <a:dk2>
        <a:srgbClr val="4B4B4B"/>
      </a:dk2>
      <a:lt2>
        <a:srgbClr val="90D2FC"/>
      </a:lt2>
      <a:accent1>
        <a:srgbClr val="006298"/>
      </a:accent1>
      <a:accent2>
        <a:srgbClr val="EC4E60"/>
      </a:accent2>
      <a:accent3>
        <a:srgbClr val="E4D022"/>
      </a:accent3>
      <a:accent4>
        <a:srgbClr val="449ADC"/>
      </a:accent4>
      <a:accent5>
        <a:srgbClr val="A02438"/>
      </a:accent5>
      <a:accent6>
        <a:srgbClr val="00B288"/>
      </a:accent6>
      <a:hlink>
        <a:srgbClr val="2C74B5"/>
      </a:hlink>
      <a:folHlink>
        <a:srgbClr val="093261"/>
      </a:folHlink>
    </a:clrScheme>
    <a:fontScheme name="Statis">
      <a:majorFont>
        <a:latin typeface="Statis Sans"/>
        <a:ea typeface=""/>
        <a:cs typeface=""/>
      </a:majorFont>
      <a:minorFont>
        <a:latin typeface="Stati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6350">
          <a:noFill/>
        </a:ln>
      </a:spPr>
      <a:bodyPr rtlCol="0" anchor="ctr"/>
      <a:lstStyle>
        <a:defPPr algn="ctr">
          <a:defRPr sz="20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rtlCol="0">
        <a:spAutoFit/>
      </a:bodyPr>
      <a:lstStyle>
        <a:defPPr algn="l">
          <a:defRPr sz="23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isSans_Destatis_PPT_Master_16x9_deutsch_2021__MF2021_01_12.pptx" id="{9D8A4893-F81E-4DB9-BBC4-7097D484A925}" vid="{E3C13A9C-ACC8-42EF-89DE-5500365E8AE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tatis Sans"/>
        <a:font script="Hebr" typeface="Statis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tatis Sans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tatis Sans"/>
        <a:font script="Hebr" typeface="Statis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tatis Sans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StatisSans_Destatis_PPT_Master_16x9_deutsch_2021__MF2021_01_12</Template>
  <TotalTime>0</TotalTime>
  <Words>1040</Words>
  <Application>Microsoft Office PowerPoint</Application>
  <PresentationFormat>Benutzerdefiniert</PresentationFormat>
  <Paragraphs>227</Paragraphs>
  <Slides>12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Statis Sans</vt:lpstr>
      <vt:lpstr>Statis Sans Light</vt:lpstr>
      <vt:lpstr>Arial</vt:lpstr>
      <vt:lpstr>Destatis_PP_Master_16x9_deutsch_2018</vt:lpstr>
      <vt:lpstr> Effiziente Auswertung steuerstatistischer Daten im FDZ OnSite-Server mithilfe von R</vt:lpstr>
      <vt:lpstr>Ausgangslage – Daten</vt:lpstr>
      <vt:lpstr>PowerPoint-Präsentation</vt:lpstr>
      <vt:lpstr>Technischer Ansatz</vt:lpstr>
      <vt:lpstr>Live Demo</vt:lpstr>
      <vt:lpstr>PowerPoint-Präsentation</vt:lpstr>
      <vt:lpstr>Mehrwert für Datenbereitstellung (Fallzahlen)</vt:lpstr>
      <vt:lpstr>Mehrwert für Datenbereitstellung  (Numerische Kennzahlen)</vt:lpstr>
      <vt:lpstr>Mehrwert in Datenauswertung (Lorenzkurve)</vt:lpstr>
      <vt:lpstr>Weiteres Vorgehen</vt:lpstr>
      <vt:lpstr>PowerPoint-Präsentation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Statistische Bundesamt stellt sich vor</dc:title>
  <dc:subject>Standardpräsentation des StBA</dc:subject>
  <dc:creator>Statistisches Bundesamt (StBA)</dc:creator>
  <cp:keywords>Zusammenarbeit, national, international, StBA, Organisation, Statistikprogramm, Statistisches Bundesamt</cp:keywords>
  <cp:lastModifiedBy>Hauke, Oliver</cp:lastModifiedBy>
  <cp:revision>322</cp:revision>
  <cp:lastPrinted>2024-12-09T10:20:07Z</cp:lastPrinted>
  <dcterms:created xsi:type="dcterms:W3CDTF">2021-01-25T13:29:24Z</dcterms:created>
  <dcterms:modified xsi:type="dcterms:W3CDTF">2025-11-13T10:45:16Z</dcterms:modified>
</cp:coreProperties>
</file>